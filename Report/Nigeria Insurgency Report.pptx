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webextensions/webextension1.xml" ContentType="application/vnd.ms-office.webextension+xml"/>
  <Override PartName="/ppt/notesSlides/notesSlide6.xml" ContentType="application/vnd.openxmlformats-officedocument.presentationml.notesSlide+xml"/>
  <Override PartName="/ppt/webextensions/webextension2.xml" ContentType="application/vnd.ms-office.webextension+xml"/>
  <Override PartName="/ppt/notesSlides/notesSlide7.xml" ContentType="application/vnd.openxmlformats-officedocument.presentationml.notesSlide+xml"/>
  <Override PartName="/ppt/webextensions/webextension3.xml" ContentType="application/vnd.ms-office.webextension+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5"/>
  </p:notesMasterIdLst>
  <p:handoutMasterIdLst>
    <p:handoutMasterId r:id="rId16"/>
  </p:handoutMasterIdLst>
  <p:sldIdLst>
    <p:sldId id="340" r:id="rId5"/>
    <p:sldId id="341" r:id="rId6"/>
    <p:sldId id="342" r:id="rId7"/>
    <p:sldId id="343" r:id="rId8"/>
    <p:sldId id="350" r:id="rId9"/>
    <p:sldId id="356" r:id="rId10"/>
    <p:sldId id="357" r:id="rId11"/>
    <p:sldId id="344" r:id="rId12"/>
    <p:sldId id="347" r:id="rId13"/>
    <p:sldId id="35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A244C9F-E24D-4E05-82B9-4F297F62541E}">
          <p14:sldIdLst>
            <p14:sldId id="340"/>
            <p14:sldId id="341"/>
            <p14:sldId id="342"/>
          </p14:sldIdLst>
        </p14:section>
        <p14:section name="INSIGHTS" id="{E6E7BF13-5F8E-4D8A-9252-80B8C2B8460D}">
          <p14:sldIdLst>
            <p14:sldId id="343"/>
            <p14:sldId id="350"/>
            <p14:sldId id="356"/>
            <p14:sldId id="357"/>
            <p14:sldId id="344"/>
            <p14:sldId id="347"/>
          </p14:sldIdLst>
        </p14:section>
        <p14:section name="Conclusion" id="{11B82506-257D-43B5-B25D-91DA702D71D0}">
          <p14:sldIdLst>
            <p14:sldId id="35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402A"/>
    <a:srgbClr val="F9E0B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E171933-4619-4E11-9A3F-F7608DF75F80}">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autoAdjust="0"/>
  </p:normalViewPr>
  <p:slideViewPr>
    <p:cSldViewPr snapToGrid="0">
      <p:cViewPr varScale="1">
        <p:scale>
          <a:sx n="86" d="100"/>
          <a:sy n="86" d="100"/>
        </p:scale>
        <p:origin x="562" y="67"/>
      </p:cViewPr>
      <p:guideLst/>
    </p:cSldViewPr>
  </p:slideViewPr>
  <p:outlineViewPr>
    <p:cViewPr>
      <p:scale>
        <a:sx n="33" d="100"/>
        <a:sy n="33" d="100"/>
      </p:scale>
      <p:origin x="0" y="-11376"/>
    </p:cViewPr>
  </p:outlineViewPr>
  <p:notesTextViewPr>
    <p:cViewPr>
      <p:scale>
        <a:sx n="1" d="1"/>
        <a:sy n="1" d="1"/>
      </p:scale>
      <p:origin x="0" y="0"/>
    </p:cViewPr>
  </p:notesTextViewPr>
  <p:sorterViewPr>
    <p:cViewPr varScale="1">
      <p:scale>
        <a:sx n="100" d="100"/>
        <a:sy n="100" d="100"/>
      </p:scale>
      <p:origin x="0" y="-6264"/>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482B951-AFFF-3499-FDE3-02A7F0BD15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2E5896A-FCE2-110F-B202-A8E435372D6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4E69F83-204D-4778-AAD0-A0F851A3AEEE}" type="datetimeFigureOut">
              <a:rPr lang="en-US" smtClean="0"/>
              <a:t>3/19/2026</a:t>
            </a:fld>
            <a:endParaRPr lang="en-US" dirty="0"/>
          </a:p>
        </p:txBody>
      </p:sp>
      <p:sp>
        <p:nvSpPr>
          <p:cNvPr id="4" name="Footer Placeholder 3">
            <a:extLst>
              <a:ext uri="{FF2B5EF4-FFF2-40B4-BE49-F238E27FC236}">
                <a16:creationId xmlns:a16="http://schemas.microsoft.com/office/drawing/2014/main" id="{911BFBA0-47AD-543A-6AE4-769D8F8658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18FC355-FEF6-ED8F-8D0E-F362E204A0F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A669D59-B021-49CB-887D-52B8FEE1CE18}" type="slidenum">
              <a:rPr lang="en-US" smtClean="0"/>
              <a:t>‹#›</a:t>
            </a:fld>
            <a:endParaRPr lang="en-US" dirty="0"/>
          </a:p>
        </p:txBody>
      </p:sp>
    </p:spTree>
    <p:extLst>
      <p:ext uri="{BB962C8B-B14F-4D97-AF65-F5344CB8AC3E}">
        <p14:creationId xmlns:p14="http://schemas.microsoft.com/office/powerpoint/2010/main" val="2817069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E3C21-C3CB-4B8D-9033-56C1B3CE75FA}" type="datetimeFigureOut">
              <a:rPr lang="en-US" smtClean="0"/>
              <a:t>3/19/2026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732C3C-A191-48C2-A7E8-9C96AF841A7A}" type="slidenum">
              <a:rPr lang="en-US" smtClean="0"/>
              <a:t>‹#›</a:t>
            </a:fld>
            <a:endParaRPr lang="en-US" dirty="0"/>
          </a:p>
        </p:txBody>
      </p:sp>
    </p:spTree>
    <p:extLst>
      <p:ext uri="{BB962C8B-B14F-4D97-AF65-F5344CB8AC3E}">
        <p14:creationId xmlns:p14="http://schemas.microsoft.com/office/powerpoint/2010/main" val="1856394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a:t>
            </a:fld>
            <a:endParaRPr lang="en-US" dirty="0"/>
          </a:p>
        </p:txBody>
      </p:sp>
    </p:spTree>
    <p:extLst>
      <p:ext uri="{BB962C8B-B14F-4D97-AF65-F5344CB8AC3E}">
        <p14:creationId xmlns:p14="http://schemas.microsoft.com/office/powerpoint/2010/main" val="1086048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2</a:t>
            </a:fld>
            <a:endParaRPr lang="en-US" dirty="0"/>
          </a:p>
        </p:txBody>
      </p:sp>
    </p:spTree>
    <p:extLst>
      <p:ext uri="{BB962C8B-B14F-4D97-AF65-F5344CB8AC3E}">
        <p14:creationId xmlns:p14="http://schemas.microsoft.com/office/powerpoint/2010/main" val="4016480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3</a:t>
            </a:fld>
            <a:endParaRPr lang="en-US" dirty="0"/>
          </a:p>
        </p:txBody>
      </p:sp>
    </p:spTree>
    <p:extLst>
      <p:ext uri="{BB962C8B-B14F-4D97-AF65-F5344CB8AC3E}">
        <p14:creationId xmlns:p14="http://schemas.microsoft.com/office/powerpoint/2010/main" val="2403399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4</a:t>
            </a:fld>
            <a:endParaRPr lang="en-US" dirty="0"/>
          </a:p>
        </p:txBody>
      </p:sp>
    </p:spTree>
    <p:extLst>
      <p:ext uri="{BB962C8B-B14F-4D97-AF65-F5344CB8AC3E}">
        <p14:creationId xmlns:p14="http://schemas.microsoft.com/office/powerpoint/2010/main" val="16497939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5</a:t>
            </a:fld>
            <a:endParaRPr lang="en-US" dirty="0"/>
          </a:p>
        </p:txBody>
      </p:sp>
    </p:spTree>
    <p:extLst>
      <p:ext uri="{BB962C8B-B14F-4D97-AF65-F5344CB8AC3E}">
        <p14:creationId xmlns:p14="http://schemas.microsoft.com/office/powerpoint/2010/main" val="12133557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6</a:t>
            </a:fld>
            <a:endParaRPr lang="en-US" dirty="0"/>
          </a:p>
        </p:txBody>
      </p:sp>
    </p:spTree>
    <p:extLst>
      <p:ext uri="{BB962C8B-B14F-4D97-AF65-F5344CB8AC3E}">
        <p14:creationId xmlns:p14="http://schemas.microsoft.com/office/powerpoint/2010/main" val="21233060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7</a:t>
            </a:fld>
            <a:endParaRPr lang="en-US" dirty="0"/>
          </a:p>
        </p:txBody>
      </p:sp>
    </p:spTree>
    <p:extLst>
      <p:ext uri="{BB962C8B-B14F-4D97-AF65-F5344CB8AC3E}">
        <p14:creationId xmlns:p14="http://schemas.microsoft.com/office/powerpoint/2010/main" val="3793982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8</a:t>
            </a:fld>
            <a:endParaRPr lang="en-US" dirty="0"/>
          </a:p>
        </p:txBody>
      </p:sp>
    </p:spTree>
    <p:extLst>
      <p:ext uri="{BB962C8B-B14F-4D97-AF65-F5344CB8AC3E}">
        <p14:creationId xmlns:p14="http://schemas.microsoft.com/office/powerpoint/2010/main" val="10541577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9</a:t>
            </a:fld>
            <a:endParaRPr lang="en-US" dirty="0"/>
          </a:p>
        </p:txBody>
      </p:sp>
    </p:spTree>
    <p:extLst>
      <p:ext uri="{BB962C8B-B14F-4D97-AF65-F5344CB8AC3E}">
        <p14:creationId xmlns:p14="http://schemas.microsoft.com/office/powerpoint/2010/main" val="35975060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10</a:t>
            </a:fld>
            <a:endParaRPr lang="en-US" dirty="0"/>
          </a:p>
        </p:txBody>
      </p:sp>
    </p:spTree>
    <p:extLst>
      <p:ext uri="{BB962C8B-B14F-4D97-AF65-F5344CB8AC3E}">
        <p14:creationId xmlns:p14="http://schemas.microsoft.com/office/powerpoint/2010/main" val="38231185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1">
            <a:lumMod val="50000"/>
          </a:schemeClr>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BECDFC6B-0742-962E-44A1-19C9C173BB2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50848" y="425303"/>
            <a:ext cx="11305217" cy="6007394"/>
          </a:xfrm>
          <a:prstGeom prst="rect">
            <a:avLst/>
          </a:prstGeom>
          <a:effectLst/>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633046"/>
            <a:ext cx="10571998" cy="3366198"/>
          </a:xfrm>
          <a:ln>
            <a:noFill/>
          </a:ln>
          <a:effectLst/>
        </p:spPr>
        <p:txBody>
          <a:bodyPr/>
          <a:lstStyle>
            <a:lvl1pPr algn="ctr">
              <a:defRPr sz="7200" b="1" spc="-300" baseline="0">
                <a:ln>
                  <a:noFill/>
                </a:ln>
                <a:solidFill>
                  <a:schemeClr val="accent4">
                    <a:lumMod val="60000"/>
                    <a:lumOff val="40000"/>
                  </a:schemeClr>
                </a:solidFill>
                <a:effectLst/>
              </a:defRPr>
            </a:lvl1pPr>
          </a:lstStyle>
          <a:p>
            <a:r>
              <a:rPr lang="en-US" dirty="0"/>
              <a:t>Click to add title</a:t>
            </a:r>
          </a:p>
        </p:txBody>
      </p:sp>
    </p:spTree>
    <p:extLst>
      <p:ext uri="{BB962C8B-B14F-4D97-AF65-F5344CB8AC3E}">
        <p14:creationId xmlns:p14="http://schemas.microsoft.com/office/powerpoint/2010/main" val="3236985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ADBC817-DA57-A518-5544-0D3B819C7062}"/>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10" name="Graphic 9">
            <a:extLst>
              <a:ext uri="{FF2B5EF4-FFF2-40B4-BE49-F238E27FC236}">
                <a16:creationId xmlns:a16="http://schemas.microsoft.com/office/drawing/2014/main" id="{4873FFF3-C7B6-C678-1B03-17FBD0D5ACE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46174" y="425303"/>
            <a:ext cx="5379242" cy="5983435"/>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944217" y="924167"/>
            <a:ext cx="4383156" cy="5009322"/>
          </a:xfrm>
          <a:solidFill>
            <a:schemeClr val="accent1">
              <a:lumMod val="50000"/>
            </a:schemeClr>
          </a:solidFill>
          <a:effectLst>
            <a:outerShdw blurRad="254000" dist="50800" dir="2700000" algn="ctr" rotWithShape="0">
              <a:prstClr val="black">
                <a:alpha val="25000"/>
              </a:prstClr>
            </a:outerShdw>
          </a:effectLst>
        </p:spPr>
        <p:txBody>
          <a:bodyPr anchor="ctr"/>
          <a:lstStyle>
            <a:lvl1pPr algn="ctr">
              <a:defRPr sz="3600" spc="0" baseline="0">
                <a:solidFill>
                  <a:schemeClr val="tx1"/>
                </a:solidFill>
                <a:effectLst/>
              </a:defRPr>
            </a:lvl1pPr>
          </a:lstStyle>
          <a:p>
            <a:r>
              <a:rPr lang="en-US" dirty="0"/>
              <a:t>Click to add title</a:t>
            </a:r>
          </a:p>
        </p:txBody>
      </p:sp>
      <p:sp>
        <p:nvSpPr>
          <p:cNvPr id="7" name="Text Placeholder 6">
            <a:extLst>
              <a:ext uri="{FF2B5EF4-FFF2-40B4-BE49-F238E27FC236}">
                <a16:creationId xmlns:a16="http://schemas.microsoft.com/office/drawing/2014/main" id="{5D0FE23B-34E3-BAAF-E01D-BE221B4A94EF}"/>
              </a:ext>
            </a:extLst>
          </p:cNvPr>
          <p:cNvSpPr>
            <a:spLocks noGrp="1"/>
          </p:cNvSpPr>
          <p:nvPr>
            <p:ph type="body" sz="quarter" idx="14" hasCustomPrompt="1"/>
          </p:nvPr>
        </p:nvSpPr>
        <p:spPr>
          <a:xfrm>
            <a:off x="6400800" y="924512"/>
            <a:ext cx="4750904" cy="5008977"/>
          </a:xfrm>
        </p:spPr>
        <p:txBody>
          <a:bodyPr/>
          <a:lstStyle>
            <a:lvl1pPr marL="0" indent="0">
              <a:buNone/>
              <a:defRPr/>
            </a:lvl1pPr>
            <a:lvl2pPr marL="742950" indent="-285750">
              <a:buFont typeface="Arial" panose="020B0604020202020204" pitchFamily="34" charset="0"/>
              <a:buChar char="•"/>
              <a:defRPr/>
            </a:lvl2pPr>
            <a:lvl3pPr marL="1200150" indent="-285750">
              <a:buFont typeface="Arial" panose="020B0604020202020204" pitchFamily="34" charset="0"/>
              <a:buChar char="•"/>
              <a:defRPr/>
            </a:lvl3pPr>
            <a:lvl4pPr marL="1543050" indent="-171450">
              <a:buFont typeface="Arial" panose="020B0604020202020204" pitchFamily="34" charset="0"/>
              <a:buChar char="•"/>
              <a:defRPr/>
            </a:lvl4pPr>
            <a:lvl5pPr marL="2000250" indent="-171450">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779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105E210-05B5-5EA1-C778-30BB3A4942D5}"/>
              </a:ext>
              <a:ext uri="{C183D7F6-B498-43B3-948B-1728B52AA6E4}">
                <adec:decorative xmlns:adec="http://schemas.microsoft.com/office/drawing/2017/decorative" val="1"/>
              </a:ext>
            </a:extLst>
          </p:cNvPr>
          <p:cNvSpPr/>
          <p:nvPr userDrawn="1"/>
        </p:nvSpPr>
        <p:spPr>
          <a:xfrm>
            <a:off x="435935" y="419987"/>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2" name="Picture 1">
            <a:extLst>
              <a:ext uri="{FF2B5EF4-FFF2-40B4-BE49-F238E27FC236}">
                <a16:creationId xmlns:a16="http://schemas.microsoft.com/office/drawing/2014/main" id="{28792193-1165-3487-6FB9-133CB518CE35}"/>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3090924" y="-2235006"/>
            <a:ext cx="6010147" cy="11320132"/>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1741064"/>
            <a:ext cx="10571998" cy="1928264"/>
          </a:xfrm>
          <a:ln>
            <a:noFill/>
          </a:ln>
          <a:effectLst/>
        </p:spPr>
        <p:txBody>
          <a:bodyPr/>
          <a:lstStyle>
            <a:lvl1pPr algn="ctr">
              <a:defRPr sz="3600" spc="0" baseline="0">
                <a:ln>
                  <a:noFill/>
                </a:ln>
                <a:solidFill>
                  <a:schemeClr val="accent4">
                    <a:lumMod val="60000"/>
                    <a:lumOff val="40000"/>
                  </a:schemeClr>
                </a:solidFill>
                <a:effectLst/>
              </a:defRPr>
            </a:lvl1pPr>
          </a:lstStyle>
          <a:p>
            <a:r>
              <a:rPr lang="en-US" dirty="0"/>
              <a:t>Click to add title</a:t>
            </a:r>
          </a:p>
        </p:txBody>
      </p:sp>
      <p:sp>
        <p:nvSpPr>
          <p:cNvPr id="3" name="Subtitle 2"/>
          <p:cNvSpPr>
            <a:spLocks noGrp="1"/>
          </p:cNvSpPr>
          <p:nvPr>
            <p:ph type="subTitle" idx="1" hasCustomPrompt="1"/>
          </p:nvPr>
        </p:nvSpPr>
        <p:spPr>
          <a:xfrm>
            <a:off x="810000" y="3694102"/>
            <a:ext cx="10572000" cy="896468"/>
          </a:xfrm>
          <a:effectLst/>
        </p:spPr>
        <p:txBody>
          <a:bodyPr anchor="ctr">
            <a:normAutofit/>
          </a:bodyPr>
          <a:lstStyle>
            <a:lvl1pPr marL="0" indent="0" algn="ctr">
              <a:buNone/>
              <a:defRPr sz="18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p:txBody>
      </p:sp>
    </p:spTree>
    <p:extLst>
      <p:ext uri="{BB962C8B-B14F-4D97-AF65-F5344CB8AC3E}">
        <p14:creationId xmlns:p14="http://schemas.microsoft.com/office/powerpoint/2010/main" val="3480000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mmary 1">
    <p:bg>
      <p:bgPr>
        <a:solidFill>
          <a:schemeClr val="accent1">
            <a:lumMod val="5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8905615-9FD2-EBB3-89AB-555B373EBBEB}"/>
              </a:ext>
              <a:ext uri="{C183D7F6-B498-43B3-948B-1728B52AA6E4}">
                <adec:decorative xmlns:adec="http://schemas.microsoft.com/office/drawing/2017/decorative" val="1"/>
              </a:ext>
            </a:extLst>
          </p:cNvPr>
          <p:cNvSpPr/>
          <p:nvPr userDrawn="1"/>
        </p:nvSpPr>
        <p:spPr>
          <a:xfrm>
            <a:off x="4623955" y="414670"/>
            <a:ext cx="7132110" cy="6018027"/>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2" name="Rectangle 11">
            <a:extLst>
              <a:ext uri="{FF2B5EF4-FFF2-40B4-BE49-F238E27FC236}">
                <a16:creationId xmlns:a16="http://schemas.microsoft.com/office/drawing/2014/main" id="{E2B638DB-3E00-7F4B-D4B7-9D7F0905639D}"/>
              </a:ext>
              <a:ext uri="{C183D7F6-B498-43B3-948B-1728B52AA6E4}">
                <adec:decorative xmlns:adec="http://schemas.microsoft.com/office/drawing/2017/decorative" val="1"/>
              </a:ext>
            </a:extLst>
          </p:cNvPr>
          <p:cNvSpPr/>
          <p:nvPr userDrawn="1"/>
        </p:nvSpPr>
        <p:spPr>
          <a:xfrm>
            <a:off x="440459" y="420624"/>
            <a:ext cx="4183496" cy="6016752"/>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310EED07-CDD5-9244-28FA-5195E67951C1}"/>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435934" y="422551"/>
            <a:ext cx="4183495" cy="6010146"/>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50717" y="924339"/>
            <a:ext cx="3990110" cy="5009322"/>
          </a:xfrm>
          <a:noFill/>
          <a:effectLst/>
        </p:spPr>
        <p:txBody>
          <a:bodyPr anchor="ctr"/>
          <a:lstStyle>
            <a:lvl1pPr algn="ctr">
              <a:defRPr sz="3600" spc="0" baseline="0">
                <a:solidFill>
                  <a:schemeClr val="tx1"/>
                </a:solidFill>
                <a:effectLst/>
              </a:defRPr>
            </a:lvl1pPr>
          </a:lstStyle>
          <a:p>
            <a:r>
              <a:rPr lang="en-US" dirty="0"/>
              <a:t>Click to add title</a:t>
            </a:r>
          </a:p>
        </p:txBody>
      </p:sp>
      <p:sp>
        <p:nvSpPr>
          <p:cNvPr id="3" name="Content Placeholder 9">
            <a:extLst>
              <a:ext uri="{FF2B5EF4-FFF2-40B4-BE49-F238E27FC236}">
                <a16:creationId xmlns:a16="http://schemas.microsoft.com/office/drawing/2014/main" id="{B5AB4E8D-8B32-8B00-8152-856C592BAB39}"/>
              </a:ext>
            </a:extLst>
          </p:cNvPr>
          <p:cNvSpPr>
            <a:spLocks noGrp="1"/>
          </p:cNvSpPr>
          <p:nvPr>
            <p:ph sz="quarter" idx="10" hasCustomPrompt="1"/>
          </p:nvPr>
        </p:nvSpPr>
        <p:spPr>
          <a:xfrm>
            <a:off x="5346793" y="924340"/>
            <a:ext cx="5684373" cy="5009322"/>
          </a:xfrm>
          <a:effectLst/>
        </p:spPr>
        <p:txBody>
          <a:bodyPr lIns="0" rIns="0" anchor="ctr"/>
          <a:lstStyle>
            <a:lvl1pPr marL="0" indent="0">
              <a:lnSpc>
                <a:spcPct val="150000"/>
              </a:lnSpc>
              <a:spcBef>
                <a:spcPts val="0"/>
              </a:spcBef>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1pPr>
            <a:lvl2pPr marL="4572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2pPr>
            <a:lvl3pPr marL="9144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3pPr>
            <a:lvl4pPr marL="13716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4pPr>
            <a:lvl5pPr marL="18288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37692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3">
    <p:bg>
      <p:bgPr>
        <a:solidFill>
          <a:schemeClr val="accent1">
            <a:lumMod val="5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4A700F-42CA-D7A9-D709-C0017521B294}"/>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rgbClr val="F9E0B9"/>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8" name="Graphic 7">
            <a:extLst>
              <a:ext uri="{FF2B5EF4-FFF2-40B4-BE49-F238E27FC236}">
                <a16:creationId xmlns:a16="http://schemas.microsoft.com/office/drawing/2014/main" id="{961DA139-D8FD-A752-758D-4F836DFB2524}"/>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353" t="-388" r="-1" b="-254"/>
          <a:stretch/>
        </p:blipFill>
        <p:spPr>
          <a:xfrm rot="16200000" flipH="1">
            <a:off x="210940" y="1589892"/>
            <a:ext cx="5245922" cy="3667583"/>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485516" y="1433219"/>
            <a:ext cx="5695102" cy="2092049"/>
          </a:xfrm>
          <a:noFill/>
          <a:effectLst/>
        </p:spPr>
        <p:txBody>
          <a:bodyPr anchor="b"/>
          <a:lstStyle>
            <a:lvl1pPr algn="ctr">
              <a:defRPr sz="3600" spc="0" baseline="0">
                <a:solidFill>
                  <a:schemeClr val="accent1">
                    <a:lumMod val="50000"/>
                  </a:schemeClr>
                </a:solidFill>
                <a:effectLst/>
              </a:defRPr>
            </a:lvl1pPr>
          </a:lstStyle>
          <a:p>
            <a:r>
              <a:rPr lang="en-US" dirty="0"/>
              <a:t>Click to add title</a:t>
            </a:r>
          </a:p>
        </p:txBody>
      </p:sp>
      <p:sp>
        <p:nvSpPr>
          <p:cNvPr id="7" name="Picture Placeholder 6">
            <a:extLst>
              <a:ext uri="{FF2B5EF4-FFF2-40B4-BE49-F238E27FC236}">
                <a16:creationId xmlns:a16="http://schemas.microsoft.com/office/drawing/2014/main" id="{C96F37D4-7152-EA75-8D7D-D8F7D6DD9C4C}"/>
              </a:ext>
            </a:extLst>
          </p:cNvPr>
          <p:cNvSpPr>
            <a:spLocks noGrp="1"/>
          </p:cNvSpPr>
          <p:nvPr>
            <p:ph type="pic" sz="quarter" idx="11"/>
          </p:nvPr>
        </p:nvSpPr>
        <p:spPr>
          <a:xfrm>
            <a:off x="1350099" y="1974707"/>
            <a:ext cx="2907792" cy="2907792"/>
          </a:xfrm>
          <a:solidFill>
            <a:srgbClr val="F9E0B9"/>
          </a:solidFill>
          <a:effectLst/>
        </p:spPr>
        <p:txBody>
          <a:bodyPr anchor="t"/>
          <a:lstStyle>
            <a:lvl1pPr marL="0" indent="0" algn="ctr">
              <a:buNone/>
              <a:defRPr>
                <a:solidFill>
                  <a:schemeClr val="accent1">
                    <a:lumMod val="50000"/>
                  </a:schemeClr>
                </a:solidFill>
              </a:defRPr>
            </a:lvl1pPr>
          </a:lstStyle>
          <a:p>
            <a:r>
              <a:rPr lang="en-US"/>
              <a:t>Click icon to add picture</a:t>
            </a:r>
            <a:endParaRPr lang="en-US" dirty="0"/>
          </a:p>
        </p:txBody>
      </p:sp>
      <p:sp>
        <p:nvSpPr>
          <p:cNvPr id="3" name="Content Placeholder 9">
            <a:extLst>
              <a:ext uri="{FF2B5EF4-FFF2-40B4-BE49-F238E27FC236}">
                <a16:creationId xmlns:a16="http://schemas.microsoft.com/office/drawing/2014/main" id="{AFBE5B12-0D10-DA99-093A-2C4FB738B21C}"/>
              </a:ext>
            </a:extLst>
          </p:cNvPr>
          <p:cNvSpPr>
            <a:spLocks noGrp="1"/>
          </p:cNvSpPr>
          <p:nvPr>
            <p:ph sz="quarter" idx="10" hasCustomPrompt="1"/>
          </p:nvPr>
        </p:nvSpPr>
        <p:spPr>
          <a:xfrm>
            <a:off x="5496789" y="3525268"/>
            <a:ext cx="5683829" cy="2595429"/>
          </a:xfrm>
          <a:effectLst/>
        </p:spPr>
        <p:txBody>
          <a:bodyPr anchor="t"/>
          <a:lstStyle>
            <a:lvl1pPr marL="0" indent="0" algn="ctr">
              <a:lnSpc>
                <a:spcPct val="150000"/>
              </a:lnSpc>
              <a:spcBef>
                <a:spcPts val="0"/>
              </a:spcBef>
              <a:buNone/>
              <a:defRPr b="1">
                <a:solidFill>
                  <a:schemeClr val="accent1">
                    <a:lumMod val="50000"/>
                  </a:schemeClr>
                </a:solidFill>
              </a:defRPr>
            </a:lvl1pPr>
            <a:lvl2pPr algn="ctr">
              <a:buClr>
                <a:schemeClr val="accent1">
                  <a:lumMod val="50000"/>
                </a:schemeClr>
              </a:buClr>
              <a:defRPr>
                <a:solidFill>
                  <a:schemeClr val="accent1">
                    <a:lumMod val="50000"/>
                  </a:schemeClr>
                </a:solidFill>
              </a:defRPr>
            </a:lvl2pPr>
            <a:lvl3pPr algn="ctr">
              <a:buClr>
                <a:schemeClr val="accent1">
                  <a:lumMod val="50000"/>
                </a:schemeClr>
              </a:buClr>
              <a:defRPr>
                <a:solidFill>
                  <a:schemeClr val="accent1">
                    <a:lumMod val="50000"/>
                  </a:schemeClr>
                </a:solidFill>
              </a:defRPr>
            </a:lvl3pPr>
            <a:lvl4pPr algn="ctr">
              <a:buClr>
                <a:schemeClr val="accent1">
                  <a:lumMod val="50000"/>
                </a:schemeClr>
              </a:buClr>
              <a:defRPr>
                <a:solidFill>
                  <a:schemeClr val="accent1">
                    <a:lumMod val="50000"/>
                  </a:schemeClr>
                </a:solidFill>
              </a:defRPr>
            </a:lvl4pPr>
            <a:lvl5pPr algn="ctr">
              <a:buClr>
                <a:schemeClr val="accent1">
                  <a:lumMod val="50000"/>
                </a:schemeClr>
              </a:buCl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79950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accent1">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1D7C89-8451-1944-C2B3-53AADAC99A01}"/>
              </a:ext>
              <a:ext uri="{C183D7F6-B498-43B3-948B-1728B52AA6E4}">
                <adec:decorative xmlns:adec="http://schemas.microsoft.com/office/drawing/2017/decorative" val="1"/>
              </a:ext>
            </a:extLst>
          </p:cNvPr>
          <p:cNvSpPr/>
          <p:nvPr userDrawn="1"/>
        </p:nvSpPr>
        <p:spPr>
          <a:xfrm>
            <a:off x="411678" y="422551"/>
            <a:ext cx="4223822"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 name="Rectangle 2">
            <a:extLst>
              <a:ext uri="{FF2B5EF4-FFF2-40B4-BE49-F238E27FC236}">
                <a16:creationId xmlns:a16="http://schemas.microsoft.com/office/drawing/2014/main" id="{D26B15EB-5194-C74B-F881-D3DCBE854272}"/>
              </a:ext>
              <a:ext uri="{C183D7F6-B498-43B3-948B-1728B52AA6E4}">
                <adec:decorative xmlns:adec="http://schemas.microsoft.com/office/drawing/2017/decorative" val="1"/>
              </a:ext>
            </a:extLst>
          </p:cNvPr>
          <p:cNvSpPr/>
          <p:nvPr userDrawn="1"/>
        </p:nvSpPr>
        <p:spPr>
          <a:xfrm>
            <a:off x="4635499" y="422551"/>
            <a:ext cx="7144823"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633845"/>
            <a:ext cx="3990110" cy="2192482"/>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7" name="Content Placeholder 6">
            <a:extLst>
              <a:ext uri="{FF2B5EF4-FFF2-40B4-BE49-F238E27FC236}">
                <a16:creationId xmlns:a16="http://schemas.microsoft.com/office/drawing/2014/main" id="{B15614EF-4CFA-2D69-0F78-9D7409E2337E}"/>
              </a:ext>
            </a:extLst>
          </p:cNvPr>
          <p:cNvSpPr>
            <a:spLocks noGrp="1"/>
          </p:cNvSpPr>
          <p:nvPr>
            <p:ph sz="quarter" idx="11" hasCustomPrompt="1"/>
          </p:nvPr>
        </p:nvSpPr>
        <p:spPr>
          <a:xfrm>
            <a:off x="747423" y="3174531"/>
            <a:ext cx="3772622" cy="3122360"/>
          </a:xfrm>
          <a:effectLst/>
        </p:spPr>
        <p:txBody>
          <a:bodyPr rIns="274320" anchor="t"/>
          <a:lstStyle>
            <a:lvl1pPr marL="283464" indent="-283464">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1pPr>
            <a:lvl2pPr marL="742950" indent="-28575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77D6637B-A7C5-34FF-5B51-32392DAEABB2}"/>
              </a:ext>
            </a:extLst>
          </p:cNvPr>
          <p:cNvSpPr>
            <a:spLocks noGrp="1"/>
          </p:cNvSpPr>
          <p:nvPr>
            <p:ph sz="quarter" idx="10" hasCustomPrompt="1"/>
          </p:nvPr>
        </p:nvSpPr>
        <p:spPr>
          <a:xfrm>
            <a:off x="5237732" y="946205"/>
            <a:ext cx="5971020" cy="5161655"/>
          </a:xfrm>
        </p:spPr>
        <p:txBody>
          <a:body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3164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troduction 2">
    <p:bg>
      <p:bgPr>
        <a:solidFill>
          <a:schemeClr val="accent1">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3E625C-F0A4-564D-CEE2-6B3595CEB038}"/>
              </a:ext>
              <a:ext uri="{C183D7F6-B498-43B3-948B-1728B52AA6E4}">
                <adec:decorative xmlns:adec="http://schemas.microsoft.com/office/drawing/2017/decorative" val="1"/>
              </a:ext>
            </a:extLst>
          </p:cNvPr>
          <p:cNvSpPr/>
          <p:nvPr userDrawn="1"/>
        </p:nvSpPr>
        <p:spPr>
          <a:xfrm>
            <a:off x="5961889" y="0"/>
            <a:ext cx="6230111"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8">
            <a:extLst>
              <a:ext uri="{FF2B5EF4-FFF2-40B4-BE49-F238E27FC236}">
                <a16:creationId xmlns:a16="http://schemas.microsoft.com/office/drawing/2014/main" id="{5997EA3E-49E5-518D-63DB-0BD43D3ACFCD}"/>
              </a:ext>
            </a:extLst>
          </p:cNvPr>
          <p:cNvSpPr>
            <a:spLocks noGrp="1"/>
          </p:cNvSpPr>
          <p:nvPr>
            <p:ph type="title"/>
          </p:nvPr>
        </p:nvSpPr>
        <p:spPr>
          <a:xfrm>
            <a:off x="6577445" y="157637"/>
            <a:ext cx="4851694" cy="2190705"/>
          </a:xfrm>
          <a:noFill/>
          <a:effectLst/>
        </p:spPr>
        <p:txBody>
          <a:bodyPr anchor="b"/>
          <a:lstStyle>
            <a:lvl1pPr algn="l">
              <a:defRPr sz="3600" spc="0" baseline="0">
                <a:solidFill>
                  <a:schemeClr val="accent1">
                    <a:lumMod val="50000"/>
                  </a:schemeClr>
                </a:solidFill>
                <a:effectLst/>
              </a:defRPr>
            </a:lvl1pPr>
          </a:lstStyle>
          <a:p>
            <a:r>
              <a:rPr lang="en-US"/>
              <a:t>Click to edit Master title style</a:t>
            </a:r>
            <a:endParaRPr lang="en-US" dirty="0"/>
          </a:p>
        </p:txBody>
      </p:sp>
      <p:sp>
        <p:nvSpPr>
          <p:cNvPr id="3" name="Rectangle 2">
            <a:extLst>
              <a:ext uri="{FF2B5EF4-FFF2-40B4-BE49-F238E27FC236}">
                <a16:creationId xmlns:a16="http://schemas.microsoft.com/office/drawing/2014/main" id="{BB4D8C78-00C3-F3D7-17C3-F1667E463E12}"/>
              </a:ext>
              <a:ext uri="{C183D7F6-B498-43B3-948B-1728B52AA6E4}">
                <adec:decorative xmlns:adec="http://schemas.microsoft.com/office/drawing/2017/decorative" val="1"/>
              </a:ext>
            </a:extLst>
          </p:cNvPr>
          <p:cNvSpPr/>
          <p:nvPr userDrawn="1"/>
        </p:nvSpPr>
        <p:spPr>
          <a:xfrm>
            <a:off x="380999" y="422551"/>
            <a:ext cx="5124893"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c</a:t>
            </a:r>
          </a:p>
        </p:txBody>
      </p:sp>
      <p:pic>
        <p:nvPicPr>
          <p:cNvPr id="4" name="Graphic 3">
            <a:extLst>
              <a:ext uri="{FF2B5EF4-FFF2-40B4-BE49-F238E27FC236}">
                <a16:creationId xmlns:a16="http://schemas.microsoft.com/office/drawing/2014/main" id="{F13E61FD-F54A-5F86-FCED-3BD4C8AA42E7}"/>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353" t="-388" r="-1" b="-254"/>
          <a:stretch/>
        </p:blipFill>
        <p:spPr>
          <a:xfrm flipH="1">
            <a:off x="659106" y="3429000"/>
            <a:ext cx="4589830" cy="2780414"/>
          </a:xfrm>
          <a:prstGeom prst="rect">
            <a:avLst/>
          </a:prstGeom>
        </p:spPr>
      </p:pic>
      <p:sp>
        <p:nvSpPr>
          <p:cNvPr id="6" name="Rectangle 5">
            <a:extLst>
              <a:ext uri="{FF2B5EF4-FFF2-40B4-BE49-F238E27FC236}">
                <a16:creationId xmlns:a16="http://schemas.microsoft.com/office/drawing/2014/main" id="{A9F0290F-2D31-F9FB-AD35-B76947AF146F}"/>
              </a:ext>
              <a:ext uri="{C183D7F6-B498-43B3-948B-1728B52AA6E4}">
                <adec:decorative xmlns:adec="http://schemas.microsoft.com/office/drawing/2017/decorative" val="1"/>
              </a:ext>
            </a:extLst>
          </p:cNvPr>
          <p:cNvSpPr/>
          <p:nvPr userDrawn="1"/>
        </p:nvSpPr>
        <p:spPr>
          <a:xfrm>
            <a:off x="1236863" y="776532"/>
            <a:ext cx="3434316" cy="501821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Picture Placeholder 11">
            <a:extLst>
              <a:ext uri="{FF2B5EF4-FFF2-40B4-BE49-F238E27FC236}">
                <a16:creationId xmlns:a16="http://schemas.microsoft.com/office/drawing/2014/main" id="{7347A5B6-0F99-C044-C209-F3190EEFA371}"/>
              </a:ext>
            </a:extLst>
          </p:cNvPr>
          <p:cNvSpPr>
            <a:spLocks noGrp="1"/>
          </p:cNvSpPr>
          <p:nvPr>
            <p:ph type="pic" sz="quarter" idx="11"/>
          </p:nvPr>
        </p:nvSpPr>
        <p:spPr>
          <a:xfrm>
            <a:off x="1236663" y="776288"/>
            <a:ext cx="3433762" cy="5018087"/>
          </a:xfrm>
        </p:spPr>
        <p:txBody>
          <a:bodyPr anchor="t"/>
          <a:lstStyle>
            <a:lvl1pPr marL="0" indent="0" algn="ctr">
              <a:buNone/>
              <a:defRPr/>
            </a:lvl1pPr>
          </a:lstStyle>
          <a:p>
            <a:r>
              <a:rPr lang="en-US"/>
              <a:t>Click icon to add picture</a:t>
            </a:r>
            <a:endParaRPr lang="en-US" dirty="0"/>
          </a:p>
        </p:txBody>
      </p:sp>
      <p:sp>
        <p:nvSpPr>
          <p:cNvPr id="5" name="Content Placeholder 9">
            <a:extLst>
              <a:ext uri="{FF2B5EF4-FFF2-40B4-BE49-F238E27FC236}">
                <a16:creationId xmlns:a16="http://schemas.microsoft.com/office/drawing/2014/main" id="{0E96890F-0832-5087-193F-70CF33DEE0AD}"/>
              </a:ext>
            </a:extLst>
          </p:cNvPr>
          <p:cNvSpPr>
            <a:spLocks noGrp="1"/>
          </p:cNvSpPr>
          <p:nvPr>
            <p:ph sz="quarter" idx="10" hasCustomPrompt="1"/>
          </p:nvPr>
        </p:nvSpPr>
        <p:spPr>
          <a:xfrm>
            <a:off x="6592615" y="2505979"/>
            <a:ext cx="4837385" cy="3926717"/>
          </a:xfrm>
          <a:effectLst/>
        </p:spPr>
        <p:txBody>
          <a:bodyPr anchor="t"/>
          <a:lstStyle>
            <a:lvl1pPr marL="0" indent="0">
              <a:lnSpc>
                <a:spcPct val="150000"/>
              </a:lnSpc>
              <a:spcBef>
                <a:spcPts val="0"/>
              </a:spcBef>
              <a:spcAft>
                <a:spcPts val="0"/>
              </a:spcAft>
              <a:buClr>
                <a:schemeClr val="accent1">
                  <a:lumMod val="50000"/>
                </a:schemeClr>
              </a:buClr>
              <a:buFont typeface="Arial" panose="020B0604020202020204" pitchFamily="34" charset="0"/>
              <a:buNone/>
              <a:defRPr>
                <a:solidFill>
                  <a:schemeClr val="accent1">
                    <a:lumMod val="50000"/>
                  </a:schemeClr>
                </a:solidFill>
              </a:defRPr>
            </a:lvl1pPr>
            <a:lvl2pPr marL="742950" indent="-28575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marL="285750" marR="0" lvl="0" indent="-285750" algn="l" defTabSz="457200" rtl="0" eaLnBrk="1" fontAlgn="auto" latinLnBrk="0" hangingPunct="1">
              <a:lnSpc>
                <a:spcPct val="150000"/>
              </a:lnSpc>
              <a:spcBef>
                <a:spcPts val="0"/>
              </a:spcBef>
              <a:spcAft>
                <a:spcPts val="0"/>
              </a:spcAft>
              <a:buClr>
                <a:schemeClr val="accent1">
                  <a:lumMod val="50000"/>
                </a:schemeClr>
              </a:buClr>
              <a:buSzTx/>
              <a:buFont typeface="Arial" panose="020B0604020202020204" pitchFamily="34" charset="0"/>
              <a:buChar char="•"/>
              <a:tabLst/>
              <a:defRPr/>
            </a:pPr>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36681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4">
    <p:bg>
      <p:bgPr>
        <a:solidFill>
          <a:schemeClr val="accent1">
            <a:lumMod val="5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6DB3CB-355C-968A-7F5F-71E0350408BA}"/>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2" y="0"/>
            <a:ext cx="12192001" cy="6858000"/>
          </a:xfrm>
          <a:prstGeom prst="rect">
            <a:avLst/>
          </a:prstGeom>
        </p:spPr>
      </p:pic>
      <p:sp>
        <p:nvSpPr>
          <p:cNvPr id="2" name="Rectangle 1">
            <a:extLst>
              <a:ext uri="{FF2B5EF4-FFF2-40B4-BE49-F238E27FC236}">
                <a16:creationId xmlns:a16="http://schemas.microsoft.com/office/drawing/2014/main" id="{281D7C89-8451-1944-C2B3-53AADAC99A01}"/>
              </a:ext>
              <a:ext uri="{C183D7F6-B498-43B3-948B-1728B52AA6E4}">
                <adec:decorative xmlns:adec="http://schemas.microsoft.com/office/drawing/2017/decorative" val="1"/>
              </a:ext>
            </a:extLst>
          </p:cNvPr>
          <p:cNvSpPr/>
          <p:nvPr userDrawn="1"/>
        </p:nvSpPr>
        <p:spPr>
          <a:xfrm>
            <a:off x="411678" y="422551"/>
            <a:ext cx="4223822"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 name="Rectangle 2">
            <a:extLst>
              <a:ext uri="{FF2B5EF4-FFF2-40B4-BE49-F238E27FC236}">
                <a16:creationId xmlns:a16="http://schemas.microsoft.com/office/drawing/2014/main" id="{D26B15EB-5194-C74B-F881-D3DCBE854272}"/>
              </a:ext>
              <a:ext uri="{C183D7F6-B498-43B3-948B-1728B52AA6E4}">
                <adec:decorative xmlns:adec="http://schemas.microsoft.com/office/drawing/2017/decorative" val="1"/>
              </a:ext>
            </a:extLst>
          </p:cNvPr>
          <p:cNvSpPr/>
          <p:nvPr userDrawn="1"/>
        </p:nvSpPr>
        <p:spPr>
          <a:xfrm>
            <a:off x="4635499" y="422551"/>
            <a:ext cx="7144823"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924339"/>
            <a:ext cx="3990110" cy="5009322"/>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10" name="Content Placeholder 9">
            <a:extLst>
              <a:ext uri="{FF2B5EF4-FFF2-40B4-BE49-F238E27FC236}">
                <a16:creationId xmlns:a16="http://schemas.microsoft.com/office/drawing/2014/main" id="{77D6637B-A7C5-34FF-5B51-32392DAEABB2}"/>
              </a:ext>
            </a:extLst>
          </p:cNvPr>
          <p:cNvSpPr>
            <a:spLocks noGrp="1"/>
          </p:cNvSpPr>
          <p:nvPr>
            <p:ph sz="quarter" idx="10" hasCustomPrompt="1"/>
          </p:nvPr>
        </p:nvSpPr>
        <p:spPr>
          <a:xfrm>
            <a:off x="5153836" y="1371602"/>
            <a:ext cx="6177309" cy="1953489"/>
          </a:xfrm>
          <a:effectLst/>
        </p:spPr>
        <p:txBody>
          <a:bodyPr anchor="t"/>
          <a:lstStyle>
            <a:lvl1pPr marL="283464" indent="-283464">
              <a:lnSpc>
                <a:spcPct val="120000"/>
              </a:lnSpc>
              <a:spcBef>
                <a:spcPts val="0"/>
              </a:spcBef>
              <a:spcAft>
                <a:spcPts val="0"/>
              </a:spcAft>
              <a:buClr>
                <a:schemeClr val="tx1"/>
              </a:buClr>
              <a:buFont typeface="Arial" panose="020B0604020202020204" pitchFamily="34" charset="0"/>
              <a:buChar char="•"/>
              <a:defRPr/>
            </a:lvl1pPr>
            <a:lvl2pPr marL="742950" indent="-285750">
              <a:lnSpc>
                <a:spcPct val="120000"/>
              </a:lnSpc>
              <a:spcBef>
                <a:spcPts val="0"/>
              </a:spcBef>
              <a:spcAft>
                <a:spcPts val="0"/>
              </a:spcAft>
              <a:buClr>
                <a:schemeClr val="tx1"/>
              </a:buClr>
              <a:buFont typeface="Arial" panose="020B0604020202020204" pitchFamily="34" charset="0"/>
              <a:buChar char="•"/>
              <a:defRPr/>
            </a:lvl2pPr>
            <a:lvl3pPr marL="1143000" indent="-228600">
              <a:lnSpc>
                <a:spcPct val="120000"/>
              </a:lnSpc>
              <a:spcBef>
                <a:spcPts val="0"/>
              </a:spcBef>
              <a:spcAft>
                <a:spcPts val="0"/>
              </a:spcAft>
              <a:buClr>
                <a:schemeClr val="tx1"/>
              </a:buClr>
              <a:buFont typeface="Arial" panose="020B0604020202020204" pitchFamily="34" charset="0"/>
              <a:buChar char="•"/>
              <a:defRPr/>
            </a:lvl3pPr>
            <a:lvl4pPr marL="1600200" indent="-228600">
              <a:lnSpc>
                <a:spcPct val="120000"/>
              </a:lnSpc>
              <a:spcBef>
                <a:spcPts val="0"/>
              </a:spcBef>
              <a:spcAft>
                <a:spcPts val="0"/>
              </a:spcAft>
              <a:buClr>
                <a:schemeClr val="tx1"/>
              </a:buClr>
              <a:buFont typeface="Arial" panose="020B0604020202020204" pitchFamily="34" charset="0"/>
              <a:buChar char="•"/>
              <a:defRPr/>
            </a:lvl4pPr>
            <a:lvl5pPr marL="2057400" indent="-228600">
              <a:lnSpc>
                <a:spcPct val="120000"/>
              </a:lnSpc>
              <a:spcBef>
                <a:spcPts val="0"/>
              </a:spcBef>
              <a:spcAft>
                <a:spcPts val="0"/>
              </a:spcAft>
              <a:buClr>
                <a:schemeClr val="tx1"/>
              </a:buClr>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5" name="Straight Connector 4">
            <a:extLst>
              <a:ext uri="{FF2B5EF4-FFF2-40B4-BE49-F238E27FC236}">
                <a16:creationId xmlns:a16="http://schemas.microsoft.com/office/drawing/2014/main" id="{A087279F-936E-0F41-B533-7990D668D7CF}"/>
              </a:ext>
              <a:ext uri="{C183D7F6-B498-43B3-948B-1728B52AA6E4}">
                <adec:decorative xmlns:adec="http://schemas.microsoft.com/office/drawing/2017/decorative" val="1"/>
              </a:ext>
            </a:extLst>
          </p:cNvPr>
          <p:cNvCxnSpPr>
            <a:cxnSpLocks/>
          </p:cNvCxnSpPr>
          <p:nvPr userDrawn="1"/>
        </p:nvCxnSpPr>
        <p:spPr>
          <a:xfrm>
            <a:off x="5153836" y="3446156"/>
            <a:ext cx="6177309" cy="0"/>
          </a:xfrm>
          <a:prstGeom prst="line">
            <a:avLst/>
          </a:prstGeom>
          <a:ln w="1905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9">
            <a:extLst>
              <a:ext uri="{FF2B5EF4-FFF2-40B4-BE49-F238E27FC236}">
                <a16:creationId xmlns:a16="http://schemas.microsoft.com/office/drawing/2014/main" id="{CDD03AA1-6D53-FEB1-9B22-57C1066DA336}"/>
              </a:ext>
            </a:extLst>
          </p:cNvPr>
          <p:cNvSpPr>
            <a:spLocks noGrp="1"/>
          </p:cNvSpPr>
          <p:nvPr>
            <p:ph sz="quarter" idx="11" hasCustomPrompt="1"/>
          </p:nvPr>
        </p:nvSpPr>
        <p:spPr>
          <a:xfrm>
            <a:off x="5153836" y="3745924"/>
            <a:ext cx="6177309" cy="2238918"/>
          </a:xfrm>
          <a:effectLst/>
        </p:spPr>
        <p:txBody>
          <a:bodyPr anchor="t"/>
          <a:lstStyle>
            <a:lvl1pPr marL="283464" indent="-283464">
              <a:lnSpc>
                <a:spcPct val="120000"/>
              </a:lnSpc>
              <a:spcBef>
                <a:spcPts val="0"/>
              </a:spcBef>
              <a:spcAft>
                <a:spcPts val="0"/>
              </a:spcAft>
              <a:buClr>
                <a:schemeClr val="tx1"/>
              </a:buClr>
              <a:buFont typeface="Arial" panose="020B0604020202020204" pitchFamily="34" charset="0"/>
              <a:buChar char="•"/>
              <a:defRPr/>
            </a:lvl1pPr>
            <a:lvl2pPr marL="742950" indent="-285750">
              <a:lnSpc>
                <a:spcPct val="120000"/>
              </a:lnSpc>
              <a:spcBef>
                <a:spcPts val="0"/>
              </a:spcBef>
              <a:spcAft>
                <a:spcPts val="0"/>
              </a:spcAft>
              <a:buClr>
                <a:schemeClr val="tx1"/>
              </a:buClr>
              <a:buFont typeface="Arial" panose="020B0604020202020204" pitchFamily="34" charset="0"/>
              <a:buChar char="•"/>
              <a:defRPr/>
            </a:lvl2pPr>
            <a:lvl3pPr marL="1143000" indent="-228600">
              <a:lnSpc>
                <a:spcPct val="120000"/>
              </a:lnSpc>
              <a:spcBef>
                <a:spcPts val="0"/>
              </a:spcBef>
              <a:spcAft>
                <a:spcPts val="0"/>
              </a:spcAft>
              <a:buClr>
                <a:schemeClr val="tx1"/>
              </a:buClr>
              <a:buFont typeface="Arial" panose="020B0604020202020204" pitchFamily="34" charset="0"/>
              <a:buChar char="•"/>
              <a:defRPr/>
            </a:lvl3pPr>
            <a:lvl4pPr marL="1600200" indent="-228600">
              <a:lnSpc>
                <a:spcPct val="120000"/>
              </a:lnSpc>
              <a:spcBef>
                <a:spcPts val="0"/>
              </a:spcBef>
              <a:spcAft>
                <a:spcPts val="0"/>
              </a:spcAft>
              <a:buClr>
                <a:schemeClr val="tx1"/>
              </a:buClr>
              <a:buFont typeface="Arial" panose="020B0604020202020204" pitchFamily="34" charset="0"/>
              <a:buChar char="•"/>
              <a:defRPr/>
            </a:lvl4pPr>
            <a:lvl5pPr marL="2057400" indent="-228600">
              <a:lnSpc>
                <a:spcPct val="120000"/>
              </a:lnSpc>
              <a:spcBef>
                <a:spcPts val="0"/>
              </a:spcBef>
              <a:spcAft>
                <a:spcPts val="0"/>
              </a:spcAft>
              <a:buClr>
                <a:schemeClr val="tx1"/>
              </a:buClr>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9371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9176A3-24B8-086B-739F-2B3DCE8BE094}"/>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4" name="Rectangle 3">
            <a:extLst>
              <a:ext uri="{FF2B5EF4-FFF2-40B4-BE49-F238E27FC236}">
                <a16:creationId xmlns:a16="http://schemas.microsoft.com/office/drawing/2014/main" id="{BA96EFAA-0851-646A-8758-C20243901E54}"/>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685800"/>
            <a:ext cx="10571998" cy="2983528"/>
          </a:xfrm>
          <a:effectLst/>
        </p:spPr>
        <p:txBody>
          <a:bodyPr/>
          <a:lstStyle>
            <a:lvl1pPr algn="ctr">
              <a:defRPr sz="3600" spc="0" baseline="0">
                <a:solidFill>
                  <a:schemeClr val="accent4">
                    <a:lumMod val="60000"/>
                    <a:lumOff val="40000"/>
                  </a:schemeClr>
                </a:solidFill>
                <a:effectLst/>
              </a:defRPr>
            </a:lvl1pPr>
          </a:lstStyle>
          <a:p>
            <a:r>
              <a:rPr lang="en-US" dirty="0"/>
              <a:t>Click to add title</a:t>
            </a:r>
          </a:p>
        </p:txBody>
      </p:sp>
    </p:spTree>
    <p:extLst>
      <p:ext uri="{BB962C8B-B14F-4D97-AF65-F5344CB8AC3E}">
        <p14:creationId xmlns:p14="http://schemas.microsoft.com/office/powerpoint/2010/main" val="4023403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1">
            <a:lumMod val="50000"/>
          </a:schemeClr>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12B799F-04B8-4A62-EB7D-F17311231B8E}"/>
              </a:ext>
              <a:ext uri="{C183D7F6-B498-43B3-948B-1728B52AA6E4}">
                <adec:decorative xmlns:adec="http://schemas.microsoft.com/office/drawing/2017/decorative" val="1"/>
              </a:ext>
            </a:extLst>
          </p:cNvPr>
          <p:cNvSpPr/>
          <p:nvPr userDrawn="1"/>
        </p:nvSpPr>
        <p:spPr>
          <a:xfrm>
            <a:off x="7556500" y="0"/>
            <a:ext cx="4635500"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7" name="Rectangle 6">
            <a:extLst>
              <a:ext uri="{FF2B5EF4-FFF2-40B4-BE49-F238E27FC236}">
                <a16:creationId xmlns:a16="http://schemas.microsoft.com/office/drawing/2014/main" id="{08F310BE-5861-E73D-5979-D11A971516CF}"/>
              </a:ext>
              <a:ext uri="{C183D7F6-B498-43B3-948B-1728B52AA6E4}">
                <adec:decorative xmlns:adec="http://schemas.microsoft.com/office/drawing/2017/decorative" val="1"/>
              </a:ext>
            </a:extLst>
          </p:cNvPr>
          <p:cNvSpPr/>
          <p:nvPr userDrawn="1"/>
        </p:nvSpPr>
        <p:spPr>
          <a:xfrm>
            <a:off x="500270" y="487680"/>
            <a:ext cx="6482080" cy="5902960"/>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8" name="Picture 7">
            <a:extLst>
              <a:ext uri="{FF2B5EF4-FFF2-40B4-BE49-F238E27FC236}">
                <a16:creationId xmlns:a16="http://schemas.microsoft.com/office/drawing/2014/main" id="{AA12F5E6-EC22-5E10-94FB-5E546A7B9123}"/>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495630" y="477518"/>
            <a:ext cx="6482079" cy="5913121"/>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036952" y="477518"/>
            <a:ext cx="3829465" cy="2693887"/>
          </a:xfrm>
          <a:noFill/>
          <a:effectLst/>
        </p:spPr>
        <p:txBody>
          <a:bodyPr anchor="b"/>
          <a:lstStyle>
            <a:lvl1pPr algn="l">
              <a:defRPr sz="3600" spc="0" baseline="0">
                <a:solidFill>
                  <a:schemeClr val="accent1">
                    <a:lumMod val="50000"/>
                  </a:schemeClr>
                </a:solidFill>
                <a:effectLst/>
              </a:defRPr>
            </a:lvl1pPr>
          </a:lstStyle>
          <a:p>
            <a:r>
              <a:rPr lang="en-US" dirty="0"/>
              <a:t>Click to add title</a:t>
            </a:r>
          </a:p>
        </p:txBody>
      </p:sp>
      <p:sp>
        <p:nvSpPr>
          <p:cNvPr id="13" name="Table Placeholder 12">
            <a:extLst>
              <a:ext uri="{FF2B5EF4-FFF2-40B4-BE49-F238E27FC236}">
                <a16:creationId xmlns:a16="http://schemas.microsoft.com/office/drawing/2014/main" id="{14BBA88A-FAA8-CE13-2A76-BF8B014AE343}"/>
              </a:ext>
            </a:extLst>
          </p:cNvPr>
          <p:cNvSpPr>
            <a:spLocks noGrp="1"/>
          </p:cNvSpPr>
          <p:nvPr>
            <p:ph type="tbl" sz="quarter" idx="11"/>
          </p:nvPr>
        </p:nvSpPr>
        <p:spPr>
          <a:xfrm>
            <a:off x="952500" y="909638"/>
            <a:ext cx="5578475" cy="5038725"/>
          </a:xfrm>
        </p:spPr>
        <p:txBody>
          <a:bodyPr anchor="t"/>
          <a:lstStyle>
            <a:lvl1pPr marL="0" indent="0" algn="ctr">
              <a:buNone/>
              <a:defRPr/>
            </a:lvl1pPr>
          </a:lstStyle>
          <a:p>
            <a:r>
              <a:rPr lang="en-US"/>
              <a:t>Click icon to add table</a:t>
            </a:r>
            <a:endParaRPr lang="en-US" dirty="0"/>
          </a:p>
        </p:txBody>
      </p:sp>
      <p:sp>
        <p:nvSpPr>
          <p:cNvPr id="5" name="Content Placeholder 9">
            <a:extLst>
              <a:ext uri="{FF2B5EF4-FFF2-40B4-BE49-F238E27FC236}">
                <a16:creationId xmlns:a16="http://schemas.microsoft.com/office/drawing/2014/main" id="{0E96890F-0832-5087-193F-70CF33DEE0AD}"/>
              </a:ext>
            </a:extLst>
          </p:cNvPr>
          <p:cNvSpPr>
            <a:spLocks noGrp="1"/>
          </p:cNvSpPr>
          <p:nvPr>
            <p:ph sz="quarter" idx="10" hasCustomPrompt="1"/>
          </p:nvPr>
        </p:nvSpPr>
        <p:spPr>
          <a:xfrm>
            <a:off x="8036953" y="3449781"/>
            <a:ext cx="3829465" cy="2940860"/>
          </a:xfrm>
          <a:effectLst/>
        </p:spPr>
        <p:txBody>
          <a:bodyPr anchor="t"/>
          <a:lstStyle>
            <a:lvl1pPr marL="285750" indent="-28575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1pPr>
            <a:lvl2pPr marL="742950" indent="-28575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12818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9176A3-24B8-086B-739F-2B3DCE8BE094}"/>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4" name="Rectangle 3">
            <a:extLst>
              <a:ext uri="{FF2B5EF4-FFF2-40B4-BE49-F238E27FC236}">
                <a16:creationId xmlns:a16="http://schemas.microsoft.com/office/drawing/2014/main" id="{BA96EFAA-0851-646A-8758-C20243901E54}"/>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488373" y="571501"/>
            <a:ext cx="11139054" cy="1028699"/>
          </a:xfrm>
          <a:effectLst/>
        </p:spPr>
        <p:txBody>
          <a:bodyPr anchor="ctr"/>
          <a:lstStyle>
            <a:lvl1pPr algn="ctr">
              <a:defRPr sz="3600" spc="0" baseline="0">
                <a:solidFill>
                  <a:schemeClr val="tx1"/>
                </a:solidFill>
                <a:effectLst/>
              </a:defRPr>
            </a:lvl1pPr>
          </a:lstStyle>
          <a:p>
            <a:r>
              <a:rPr lang="en-US" dirty="0"/>
              <a:t>Click to add title</a:t>
            </a:r>
          </a:p>
        </p:txBody>
      </p:sp>
      <p:sp>
        <p:nvSpPr>
          <p:cNvPr id="11" name="Table Placeholder 10">
            <a:extLst>
              <a:ext uri="{FF2B5EF4-FFF2-40B4-BE49-F238E27FC236}">
                <a16:creationId xmlns:a16="http://schemas.microsoft.com/office/drawing/2014/main" id="{E10735F5-6B7D-348D-AC70-8BC10CB5F70A}"/>
              </a:ext>
            </a:extLst>
          </p:cNvPr>
          <p:cNvSpPr>
            <a:spLocks noGrp="1"/>
          </p:cNvSpPr>
          <p:nvPr>
            <p:ph type="tbl" sz="quarter" idx="10"/>
          </p:nvPr>
        </p:nvSpPr>
        <p:spPr>
          <a:xfrm>
            <a:off x="838200" y="1860550"/>
            <a:ext cx="10515600" cy="4198938"/>
          </a:xfrm>
        </p:spPr>
        <p:txBody>
          <a:bodyPr anchor="t"/>
          <a:lstStyle>
            <a:lvl1pPr marL="0" indent="0" algn="ctr">
              <a:buNone/>
              <a:defRPr/>
            </a:lvl1pPr>
          </a:lstStyle>
          <a:p>
            <a:r>
              <a:rPr lang="en-US"/>
              <a:t>Click icon to add table</a:t>
            </a:r>
            <a:endParaRPr lang="en-US" dirty="0"/>
          </a:p>
        </p:txBody>
      </p:sp>
    </p:spTree>
    <p:extLst>
      <p:ext uri="{BB962C8B-B14F-4D97-AF65-F5344CB8AC3E}">
        <p14:creationId xmlns:p14="http://schemas.microsoft.com/office/powerpoint/2010/main" val="1912634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1">
            <a:lumMod val="50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FDAFCA1-BDD9-1108-8F95-E3FC1A7935C1}"/>
              </a:ext>
              <a:ext uri="{C183D7F6-B498-43B3-948B-1728B52AA6E4}">
                <adec:decorative xmlns:adec="http://schemas.microsoft.com/office/drawing/2017/decorative" val="1"/>
              </a:ext>
            </a:extLst>
          </p:cNvPr>
          <p:cNvGrpSpPr/>
          <p:nvPr userDrawn="1"/>
        </p:nvGrpSpPr>
        <p:grpSpPr>
          <a:xfrm rot="10800000">
            <a:off x="0" y="0"/>
            <a:ext cx="11532896" cy="6858000"/>
            <a:chOff x="659106" y="0"/>
            <a:chExt cx="11532896" cy="6858000"/>
          </a:xfrm>
        </p:grpSpPr>
        <p:sp>
          <p:nvSpPr>
            <p:cNvPr id="3" name="Rectangle 2">
              <a:extLst>
                <a:ext uri="{FF2B5EF4-FFF2-40B4-BE49-F238E27FC236}">
                  <a16:creationId xmlns:a16="http://schemas.microsoft.com/office/drawing/2014/main" id="{E4BFDB24-6BE4-2FC0-F772-DC1DE926E485}"/>
                </a:ext>
              </a:extLst>
            </p:cNvPr>
            <p:cNvSpPr/>
            <p:nvPr/>
          </p:nvSpPr>
          <p:spPr>
            <a:xfrm>
              <a:off x="5995086" y="0"/>
              <a:ext cx="6196916"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4" name="Graphic 3">
              <a:extLst>
                <a:ext uri="{FF2B5EF4-FFF2-40B4-BE49-F238E27FC236}">
                  <a16:creationId xmlns:a16="http://schemas.microsoft.com/office/drawing/2014/main" id="{131EABEA-AB8A-5E4C-A6DD-8F32B70E90A3}"/>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353" t="-388" r="-1" b="-254"/>
            <a:stretch/>
          </p:blipFill>
          <p:spPr>
            <a:xfrm flipH="1">
              <a:off x="659106" y="1956391"/>
              <a:ext cx="4878094" cy="2780414"/>
            </a:xfrm>
            <a:prstGeom prst="rect">
              <a:avLst/>
            </a:prstGeom>
          </p:spPr>
        </p:pic>
        <p:sp>
          <p:nvSpPr>
            <p:cNvPr id="5" name="Rectangle 4">
              <a:extLst>
                <a:ext uri="{FF2B5EF4-FFF2-40B4-BE49-F238E27FC236}">
                  <a16:creationId xmlns:a16="http://schemas.microsoft.com/office/drawing/2014/main" id="{D2279AAC-0D81-D3CD-3F0F-E8CEE0F56D43}"/>
                </a:ext>
              </a:extLst>
            </p:cNvPr>
            <p:cNvSpPr/>
            <p:nvPr/>
          </p:nvSpPr>
          <p:spPr>
            <a:xfrm>
              <a:off x="1328303" y="776532"/>
              <a:ext cx="3434316" cy="501821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gr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617542" y="132080"/>
            <a:ext cx="4928894" cy="6507711"/>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11" name="Picture Placeholder 10">
            <a:extLst>
              <a:ext uri="{FF2B5EF4-FFF2-40B4-BE49-F238E27FC236}">
                <a16:creationId xmlns:a16="http://schemas.microsoft.com/office/drawing/2014/main" id="{E0720B2D-C199-57FA-9453-DBFB607BA983}"/>
              </a:ext>
            </a:extLst>
          </p:cNvPr>
          <p:cNvSpPr>
            <a:spLocks noGrp="1"/>
          </p:cNvSpPr>
          <p:nvPr>
            <p:ph type="pic" sz="quarter" idx="10"/>
          </p:nvPr>
        </p:nvSpPr>
        <p:spPr>
          <a:xfrm>
            <a:off x="7429500" y="992188"/>
            <a:ext cx="3425825" cy="5018087"/>
          </a:xfrm>
        </p:spPr>
        <p:txBody>
          <a:bodyPr anchor="t"/>
          <a:lstStyle>
            <a:lvl1pPr marL="0" indent="0" algn="ctr">
              <a:buNone/>
              <a:defRPr/>
            </a:lvl1pPr>
          </a:lstStyle>
          <a:p>
            <a:r>
              <a:rPr lang="en-US"/>
              <a:t>Click icon to add picture</a:t>
            </a:r>
            <a:endParaRPr lang="en-US" dirty="0"/>
          </a:p>
        </p:txBody>
      </p:sp>
    </p:spTree>
    <p:extLst>
      <p:ext uri="{BB962C8B-B14F-4D97-AF65-F5344CB8AC3E}">
        <p14:creationId xmlns:p14="http://schemas.microsoft.com/office/powerpoint/2010/main" val="3159858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wo Columns">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B11222B-29F6-BF2A-09DE-82F659638940}"/>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3" name="Rectangle 2">
            <a:extLst>
              <a:ext uri="{FF2B5EF4-FFF2-40B4-BE49-F238E27FC236}">
                <a16:creationId xmlns:a16="http://schemas.microsoft.com/office/drawing/2014/main" id="{B035F993-EADB-1C5A-7158-41E510B706E0}"/>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4" name="Rectangle 3">
            <a:extLst>
              <a:ext uri="{FF2B5EF4-FFF2-40B4-BE49-F238E27FC236}">
                <a16:creationId xmlns:a16="http://schemas.microsoft.com/office/drawing/2014/main" id="{AB12E34E-DBAF-BA5D-15D9-E69A05535785}"/>
              </a:ext>
              <a:ext uri="{C183D7F6-B498-43B3-948B-1728B52AA6E4}">
                <adec:decorative xmlns:adec="http://schemas.microsoft.com/office/drawing/2017/decorative" val="1"/>
              </a:ext>
            </a:extLst>
          </p:cNvPr>
          <p:cNvSpPr/>
          <p:nvPr userDrawn="1"/>
        </p:nvSpPr>
        <p:spPr>
          <a:xfrm>
            <a:off x="381000" y="1889759"/>
            <a:ext cx="11424920" cy="4542937"/>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571499"/>
            <a:ext cx="11118274" cy="1154114"/>
          </a:xfrm>
          <a:noFill/>
          <a:effectLst/>
        </p:spPr>
        <p:txBody>
          <a:bodyPr anchor="ctr"/>
          <a:lstStyle>
            <a:lvl1pPr algn="ctr">
              <a:defRPr sz="3600" spc="0" baseline="0">
                <a:solidFill>
                  <a:schemeClr val="tx1"/>
                </a:solidFill>
                <a:effectLst/>
              </a:defRPr>
            </a:lvl1pPr>
          </a:lstStyle>
          <a:p>
            <a:r>
              <a:rPr lang="en-US" dirty="0"/>
              <a:t>Click to add title</a:t>
            </a:r>
          </a:p>
        </p:txBody>
      </p:sp>
      <p:sp>
        <p:nvSpPr>
          <p:cNvPr id="5" name="Content Placeholder 9">
            <a:extLst>
              <a:ext uri="{FF2B5EF4-FFF2-40B4-BE49-F238E27FC236}">
                <a16:creationId xmlns:a16="http://schemas.microsoft.com/office/drawing/2014/main" id="{0BF6A552-CE6A-3977-8507-74A1C4C4B5A0}"/>
              </a:ext>
            </a:extLst>
          </p:cNvPr>
          <p:cNvSpPr>
            <a:spLocks noGrp="1"/>
          </p:cNvSpPr>
          <p:nvPr>
            <p:ph sz="quarter" idx="17" hasCustomPrompt="1"/>
          </p:nvPr>
        </p:nvSpPr>
        <p:spPr>
          <a:xfrm>
            <a:off x="841667" y="2461056"/>
            <a:ext cx="3626424" cy="3721535"/>
          </a:xfrm>
          <a:effectLst/>
        </p:spPr>
        <p:txBody>
          <a:bodyPr anchor="t">
            <a:normAutofit/>
          </a:bodyPr>
          <a:lstStyle>
            <a:lvl1pPr marL="285750" indent="-285750">
              <a:lnSpc>
                <a:spcPct val="120000"/>
              </a:lnSpc>
              <a:spcBef>
                <a:spcPts val="600"/>
              </a:spcBef>
              <a:spcAft>
                <a:spcPts val="1200"/>
              </a:spcAft>
              <a:buClr>
                <a:schemeClr val="accent1">
                  <a:lumMod val="50000"/>
                </a:schemeClr>
              </a:buClr>
              <a:buFont typeface="Arial" panose="020B0604020202020204" pitchFamily="34" charset="0"/>
              <a:buChar char="•"/>
              <a:defRPr sz="1800">
                <a:solidFill>
                  <a:schemeClr val="accent1">
                    <a:lumMod val="50000"/>
                  </a:schemeClr>
                </a:solidFill>
              </a:defRPr>
            </a:lvl1pPr>
            <a:lvl2pPr marL="742950" indent="-285750">
              <a:lnSpc>
                <a:spcPct val="120000"/>
              </a:lnSpc>
              <a:spcAft>
                <a:spcPts val="1200"/>
              </a:spcAft>
              <a:buClr>
                <a:schemeClr val="accent1">
                  <a:lumMod val="50000"/>
                </a:schemeClr>
              </a:buClr>
              <a:buFont typeface="Arial" panose="020B0604020202020204" pitchFamily="34" charset="0"/>
              <a:buChar char="•"/>
              <a:defRPr sz="1600">
                <a:solidFill>
                  <a:schemeClr val="accent1">
                    <a:lumMod val="50000"/>
                  </a:schemeClr>
                </a:solidFill>
              </a:defRPr>
            </a:lvl2pPr>
            <a:lvl3pPr marL="1143000" indent="-228600">
              <a:lnSpc>
                <a:spcPct val="120000"/>
              </a:lnSpc>
              <a:spcAft>
                <a:spcPts val="1200"/>
              </a:spcAft>
              <a:buClr>
                <a:schemeClr val="accent1">
                  <a:lumMod val="50000"/>
                </a:schemeClr>
              </a:buClr>
              <a:buFont typeface="Arial" panose="020B0604020202020204" pitchFamily="34" charset="0"/>
              <a:buChar char="•"/>
              <a:defRPr sz="1400">
                <a:solidFill>
                  <a:schemeClr val="accent1">
                    <a:lumMod val="50000"/>
                  </a:schemeClr>
                </a:solidFill>
              </a:defRPr>
            </a:lvl3pPr>
            <a:lvl4pPr marL="1600200" indent="-228600">
              <a:lnSpc>
                <a:spcPct val="120000"/>
              </a:lnSpc>
              <a:spcAft>
                <a:spcPts val="1200"/>
              </a:spcAft>
              <a:buClr>
                <a:schemeClr val="accent1">
                  <a:lumMod val="50000"/>
                </a:schemeClr>
              </a:buClr>
              <a:buFont typeface="Arial" panose="020B0604020202020204" pitchFamily="34" charset="0"/>
              <a:buChar char="•"/>
              <a:defRPr sz="1200">
                <a:solidFill>
                  <a:schemeClr val="accent1">
                    <a:lumMod val="50000"/>
                  </a:schemeClr>
                </a:solidFill>
              </a:defRPr>
            </a:lvl4pPr>
            <a:lvl5pPr marL="2057400" indent="-228600">
              <a:lnSpc>
                <a:spcPct val="120000"/>
              </a:lnSpc>
              <a:spcAft>
                <a:spcPts val="1200"/>
              </a:spcAft>
              <a:buClr>
                <a:schemeClr val="accent1">
                  <a:lumMod val="50000"/>
                </a:schemeClr>
              </a:buClr>
              <a:buFont typeface="Arial" panose="020B0604020202020204" pitchFamily="34" charset="0"/>
              <a:buChar char="•"/>
              <a:defRPr sz="1200">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9">
            <a:extLst>
              <a:ext uri="{FF2B5EF4-FFF2-40B4-BE49-F238E27FC236}">
                <a16:creationId xmlns:a16="http://schemas.microsoft.com/office/drawing/2014/main" id="{4C80689F-A123-F6D7-2AA8-9166317EF424}"/>
              </a:ext>
            </a:extLst>
          </p:cNvPr>
          <p:cNvSpPr>
            <a:spLocks noGrp="1"/>
          </p:cNvSpPr>
          <p:nvPr>
            <p:ph sz="quarter" idx="18" hasCustomPrompt="1"/>
          </p:nvPr>
        </p:nvSpPr>
        <p:spPr>
          <a:xfrm>
            <a:off x="5995282" y="2440275"/>
            <a:ext cx="5164553" cy="3721534"/>
          </a:xfrm>
          <a:effectLst/>
        </p:spPr>
        <p:txBody>
          <a:bodyPr anchor="t">
            <a:normAutofit/>
          </a:bodyPr>
          <a:lstStyle>
            <a:lvl1pPr marL="342900" indent="-342900">
              <a:lnSpc>
                <a:spcPct val="120000"/>
              </a:lnSpc>
              <a:spcBef>
                <a:spcPts val="600"/>
              </a:spcBef>
              <a:spcAft>
                <a:spcPts val="600"/>
              </a:spcAft>
              <a:buClr>
                <a:schemeClr val="accent1">
                  <a:lumMod val="50000"/>
                </a:schemeClr>
              </a:buClr>
              <a:buFont typeface="+mj-lt"/>
              <a:buAutoNum type="arabicPeriod"/>
              <a:defRPr sz="1800" b="1">
                <a:solidFill>
                  <a:schemeClr val="accent1">
                    <a:lumMod val="50000"/>
                  </a:schemeClr>
                </a:solidFill>
              </a:defRPr>
            </a:lvl1pPr>
            <a:lvl2pPr marL="347472" indent="0">
              <a:lnSpc>
                <a:spcPct val="120000"/>
              </a:lnSpc>
              <a:spcBef>
                <a:spcPts val="0"/>
              </a:spcBef>
              <a:spcAft>
                <a:spcPts val="600"/>
              </a:spcAft>
              <a:buClr>
                <a:schemeClr val="accent1">
                  <a:lumMod val="50000"/>
                </a:schemeClr>
              </a:buClr>
              <a:buNone/>
              <a:defRPr sz="1800">
                <a:solidFill>
                  <a:schemeClr val="accent1">
                    <a:lumMod val="50000"/>
                  </a:schemeClr>
                </a:solidFill>
              </a:defRPr>
            </a:lvl2pPr>
            <a:lvl3pPr marL="914400" indent="0">
              <a:lnSpc>
                <a:spcPct val="120000"/>
              </a:lnSpc>
              <a:spcAft>
                <a:spcPts val="600"/>
              </a:spcAft>
              <a:buClr>
                <a:schemeClr val="accent1">
                  <a:lumMod val="50000"/>
                </a:schemeClr>
              </a:buClr>
              <a:buNone/>
              <a:defRPr sz="1800">
                <a:solidFill>
                  <a:schemeClr val="accent1">
                    <a:lumMod val="50000"/>
                  </a:schemeClr>
                </a:solidFill>
              </a:defRPr>
            </a:lvl3pPr>
            <a:lvl4pPr marL="1371600" indent="0">
              <a:lnSpc>
                <a:spcPct val="120000"/>
              </a:lnSpc>
              <a:spcAft>
                <a:spcPts val="600"/>
              </a:spcAft>
              <a:buClr>
                <a:schemeClr val="accent1">
                  <a:lumMod val="50000"/>
                </a:schemeClr>
              </a:buClr>
              <a:buNone/>
              <a:defRPr sz="1800">
                <a:solidFill>
                  <a:schemeClr val="accent1">
                    <a:lumMod val="50000"/>
                  </a:schemeClr>
                </a:solidFill>
              </a:defRPr>
            </a:lvl4pPr>
            <a:lvl5pPr marL="1828800" indent="0">
              <a:lnSpc>
                <a:spcPct val="120000"/>
              </a:lnSpc>
              <a:spcAft>
                <a:spcPts val="600"/>
              </a:spcAft>
              <a:buClr>
                <a:schemeClr val="accent1">
                  <a:lumMod val="50000"/>
                </a:schemeClr>
              </a:buClr>
              <a:buNone/>
              <a:defRPr sz="1800">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182021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
    <p:bg>
      <p:bgPr>
        <a:solidFill>
          <a:schemeClr val="accent1">
            <a:lumMod val="50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F4DCF8-BA15-AB79-2D14-040F5A063B79}"/>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6" name="Picture 5">
            <a:extLst>
              <a:ext uri="{FF2B5EF4-FFF2-40B4-BE49-F238E27FC236}">
                <a16:creationId xmlns:a16="http://schemas.microsoft.com/office/drawing/2014/main" id="{5ED22DD7-291D-E347-8A4C-07E31E681333}"/>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3092299" y="-2231063"/>
            <a:ext cx="6007395" cy="11320129"/>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770660" y="1017858"/>
            <a:ext cx="10650681" cy="2719255"/>
          </a:xfrm>
          <a:noFill/>
          <a:effectLst/>
        </p:spPr>
        <p:txBody>
          <a:bodyPr anchor="b"/>
          <a:lstStyle>
            <a:lvl1pPr algn="ctr">
              <a:defRPr sz="7200" spc="-300" baseline="0">
                <a:solidFill>
                  <a:schemeClr val="accent4">
                    <a:lumMod val="60000"/>
                    <a:lumOff val="40000"/>
                  </a:schemeClr>
                </a:solidFill>
                <a:effectLst/>
              </a:defRPr>
            </a:lvl1pPr>
          </a:lstStyle>
          <a:p>
            <a:r>
              <a:rPr lang="en-US" dirty="0"/>
              <a:t>Click to add title</a:t>
            </a:r>
          </a:p>
        </p:txBody>
      </p:sp>
      <p:sp>
        <p:nvSpPr>
          <p:cNvPr id="7" name="Text Placeholder 6">
            <a:extLst>
              <a:ext uri="{FF2B5EF4-FFF2-40B4-BE49-F238E27FC236}">
                <a16:creationId xmlns:a16="http://schemas.microsoft.com/office/drawing/2014/main" id="{5D0FE23B-34E3-BAAF-E01D-BE221B4A94EF}"/>
              </a:ext>
            </a:extLst>
          </p:cNvPr>
          <p:cNvSpPr>
            <a:spLocks noGrp="1"/>
          </p:cNvSpPr>
          <p:nvPr>
            <p:ph type="body" sz="quarter" idx="14" hasCustomPrompt="1"/>
          </p:nvPr>
        </p:nvSpPr>
        <p:spPr>
          <a:xfrm>
            <a:off x="770660" y="4042066"/>
            <a:ext cx="10650681" cy="2296843"/>
          </a:xfrm>
          <a:effectLst/>
        </p:spPr>
        <p:txBody>
          <a:bodyPr anchor="t"/>
          <a:lstStyle>
            <a:lvl1pPr marL="0" indent="0" algn="ctr">
              <a:lnSpc>
                <a:spcPct val="120000"/>
              </a:lnSpc>
              <a:spcBef>
                <a:spcPts val="0"/>
              </a:spcBef>
              <a:spcAft>
                <a:spcPts val="0"/>
              </a:spcAft>
              <a:buNone/>
              <a:defRPr>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Tree>
    <p:extLst>
      <p:ext uri="{BB962C8B-B14F-4D97-AF65-F5344CB8AC3E}">
        <p14:creationId xmlns:p14="http://schemas.microsoft.com/office/powerpoint/2010/main" val="3272508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86F7BD38-A805-4B2C-9BDF-D56E94387879}" type="datetime1">
              <a:rPr lang="en-US" smtClean="0"/>
              <a:t>3/19/2026</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tx1"/>
                </a:solidFill>
              </a:defRPr>
            </a:lvl1pPr>
          </a:lstStyle>
          <a:p>
            <a:fld id="{D57F1E4F-1CFF-5643-939E-217C01CDF565}"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86" r:id="rId1"/>
    <p:sldLayoutId id="2147483668" r:id="rId2"/>
    <p:sldLayoutId id="2147483669" r:id="rId3"/>
    <p:sldLayoutId id="2147483684" r:id="rId4"/>
    <p:sldLayoutId id="2147483672" r:id="rId5"/>
    <p:sldLayoutId id="2147483687" r:id="rId6"/>
    <p:sldLayoutId id="2147483671" r:id="rId7"/>
    <p:sldLayoutId id="2147483688" r:id="rId8"/>
    <p:sldLayoutId id="2147483689" r:id="rId9"/>
    <p:sldLayoutId id="2147483690" r:id="rId10"/>
    <p:sldLayoutId id="2147483691" r:id="rId11"/>
    <p:sldLayoutId id="2147483692" r:id="rId12"/>
    <p:sldLayoutId id="2147483693" r:id="rId13"/>
    <p:sldLayoutId id="2147483685" r:id="rId14"/>
  </p:sldLayoutIdLst>
  <p:hf sldNum="0" hdr="0" ftr="0" dt="0"/>
  <p:txStyles>
    <p:titleStyle>
      <a:lvl1pPr algn="l" defTabSz="457200" rtl="0" eaLnBrk="1" latinLnBrk="0" hangingPunct="1">
        <a:spcBef>
          <a:spcPct val="0"/>
        </a:spcBef>
        <a:buNone/>
        <a:defRPr sz="4000" b="1" kern="1200" baseline="0">
          <a:ln>
            <a:noFill/>
          </a:ln>
          <a:solidFill>
            <a:srgbClr val="FEFEFE"/>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microsoft.com/office/2011/relationships/webextension" Target="../webextensions/webextension2.xml"/><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microsoft.com/office/2011/relationships/webextension" Target="../webextensions/webextension3.xml"/><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762A4-2E4B-23FB-9F8B-D54C0F90A08A}"/>
              </a:ext>
            </a:extLst>
          </p:cNvPr>
          <p:cNvSpPr>
            <a:spLocks noGrp="1"/>
          </p:cNvSpPr>
          <p:nvPr>
            <p:ph type="title"/>
          </p:nvPr>
        </p:nvSpPr>
        <p:spPr>
          <a:xfrm>
            <a:off x="810001" y="633046"/>
            <a:ext cx="10571998" cy="3060065"/>
          </a:xfrm>
        </p:spPr>
        <p:txBody>
          <a:bodyPr/>
          <a:lstStyle/>
          <a:p>
            <a:pPr algn="l"/>
            <a:r>
              <a:rPr lang="en-US" sz="3200"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NIGERIA TERRORISM AND SECURITY INCIDENTS REPORT</a:t>
            </a:r>
            <a:br>
              <a:rPr lang="en-US" sz="3200"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br>
            <a:br>
              <a:rPr lang="en-US" sz="800" b="1" dirty="0"/>
            </a:br>
            <a:r>
              <a:rPr lang="en-US" sz="1600" spc="0" dirty="0">
                <a:solidFill>
                  <a:schemeClr val="tx1"/>
                </a:solidFill>
                <a:latin typeface="Calibri" panose="020F0502020204030204" pitchFamily="34" charset="0"/>
                <a:cs typeface="Calibri" panose="020F0502020204030204" pitchFamily="34" charset="0"/>
              </a:rPr>
              <a:t>Data-Driven Insights into Terrorism Incidents, Fatalities, and Regional Patterns</a:t>
            </a:r>
            <a:br>
              <a:rPr lang="en-US" sz="1600" spc="0" dirty="0">
                <a:solidFill>
                  <a:schemeClr val="tx1"/>
                </a:solidFill>
                <a:latin typeface="Calibri" panose="020F0502020204030204" pitchFamily="34" charset="0"/>
                <a:cs typeface="Calibri" panose="020F0502020204030204" pitchFamily="34" charset="0"/>
              </a:rPr>
            </a:br>
            <a:br>
              <a:rPr lang="en-US" sz="1600" spc="0" dirty="0">
                <a:solidFill>
                  <a:schemeClr val="tx1"/>
                </a:solidFill>
                <a:latin typeface="Calibri" panose="020F0502020204030204" pitchFamily="34" charset="0"/>
                <a:cs typeface="Calibri" panose="020F0502020204030204" pitchFamily="34" charset="0"/>
              </a:rPr>
            </a:br>
            <a:br>
              <a:rPr lang="en-US" sz="1600" spc="0" dirty="0">
                <a:solidFill>
                  <a:schemeClr val="tx1"/>
                </a:solidFill>
                <a:latin typeface="Calibri" panose="020F0502020204030204" pitchFamily="34" charset="0"/>
                <a:cs typeface="Calibri" panose="020F0502020204030204" pitchFamily="34" charset="0"/>
              </a:rPr>
            </a:br>
            <a:br>
              <a:rPr lang="en-US" sz="1600" spc="0" dirty="0">
                <a:solidFill>
                  <a:schemeClr val="tx1"/>
                </a:solidFill>
                <a:latin typeface="Calibri" panose="020F0502020204030204" pitchFamily="34" charset="0"/>
                <a:cs typeface="Calibri" panose="020F0502020204030204" pitchFamily="34" charset="0"/>
              </a:rPr>
            </a:br>
            <a:r>
              <a:rPr lang="it-IT" sz="1600" b="1" spc="0" dirty="0">
                <a:solidFill>
                  <a:schemeClr val="tx1"/>
                </a:solidFill>
                <a:latin typeface="Calibri" panose="020F0502020204030204" pitchFamily="34" charset="0"/>
                <a:cs typeface="Calibri" panose="020F0502020204030204" pitchFamily="34" charset="0"/>
              </a:rPr>
              <a:t>Emmanuel Chinonso Nwala</a:t>
            </a:r>
            <a:br>
              <a:rPr lang="it-IT" sz="1600" spc="0" dirty="0">
                <a:solidFill>
                  <a:schemeClr val="tx1"/>
                </a:solidFill>
                <a:latin typeface="Calibri" panose="020F0502020204030204" pitchFamily="34" charset="0"/>
                <a:cs typeface="Calibri" panose="020F0502020204030204" pitchFamily="34" charset="0"/>
              </a:rPr>
            </a:br>
            <a:r>
              <a:rPr lang="it-IT" sz="1600" spc="0" dirty="0">
                <a:solidFill>
                  <a:schemeClr val="tx1"/>
                </a:solidFill>
                <a:latin typeface="Calibri" panose="020F0502020204030204" pitchFamily="34" charset="0"/>
                <a:cs typeface="Calibri" panose="020F0502020204030204" pitchFamily="34" charset="0"/>
              </a:rPr>
              <a:t>Data Analyst</a:t>
            </a:r>
            <a:br>
              <a:rPr lang="it-IT" sz="1600" spc="0" dirty="0">
                <a:solidFill>
                  <a:schemeClr val="tx1"/>
                </a:solidFill>
                <a:latin typeface="Calibri" panose="020F0502020204030204" pitchFamily="34" charset="0"/>
                <a:cs typeface="Calibri" panose="020F0502020204030204" pitchFamily="34" charset="0"/>
              </a:rPr>
            </a:br>
            <a:r>
              <a:rPr lang="en-US" sz="1600" spc="0" dirty="0">
                <a:solidFill>
                  <a:schemeClr val="tx1"/>
                </a:solidFill>
                <a:latin typeface="Calibri" panose="020F0502020204030204" pitchFamily="34" charset="0"/>
                <a:cs typeface="Calibri" panose="020F0502020204030204" pitchFamily="34" charset="0"/>
              </a:rPr>
              <a:t>Portfolio Project | Year of Analysis (2020–2025)</a:t>
            </a:r>
            <a:endParaRPr lang="en-US" sz="4800" spc="0" noProof="0" dirty="0">
              <a:solidFill>
                <a:schemeClr val="tx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F4DD3014-1761-4A64-A929-1444327D4101}"/>
              </a:ext>
            </a:extLst>
          </p:cNvPr>
          <p:cNvPicPr>
            <a:picLocks noChangeAspect="1"/>
          </p:cNvPicPr>
          <p:nvPr/>
        </p:nvPicPr>
        <p:blipFill>
          <a:blip r:embed="rId3"/>
          <a:stretch>
            <a:fillRect/>
          </a:stretch>
        </p:blipFill>
        <p:spPr>
          <a:xfrm>
            <a:off x="6755908" y="2584316"/>
            <a:ext cx="4962618" cy="3818889"/>
          </a:xfrm>
          <a:prstGeom prst="rect">
            <a:avLst/>
          </a:prstGeom>
        </p:spPr>
      </p:pic>
    </p:spTree>
    <p:extLst>
      <p:ext uri="{BB962C8B-B14F-4D97-AF65-F5344CB8AC3E}">
        <p14:creationId xmlns:p14="http://schemas.microsoft.com/office/powerpoint/2010/main" val="431835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B7740-ED88-9F6A-89FF-4B0DFAAC36EA}"/>
              </a:ext>
            </a:extLst>
          </p:cNvPr>
          <p:cNvSpPr>
            <a:spLocks noGrp="1"/>
          </p:cNvSpPr>
          <p:nvPr>
            <p:ph type="title"/>
          </p:nvPr>
        </p:nvSpPr>
        <p:spPr>
          <a:xfrm>
            <a:off x="944217" y="924167"/>
            <a:ext cx="4383156" cy="5009322"/>
          </a:xfrm>
        </p:spPr>
        <p:txBody>
          <a:bodyPr/>
          <a:lstStyle/>
          <a:p>
            <a:r>
              <a:rPr lang="en-US" sz="3200" b="1" dirty="0">
                <a:effectLst/>
                <a:latin typeface="Calibri" panose="020F0502020204030204" pitchFamily="34" charset="0"/>
                <a:ea typeface="Calibri" panose="020F0502020204030204" pitchFamily="34" charset="0"/>
                <a:cs typeface="Times New Roman" panose="02020603050405020304" pitchFamily="18" charset="0"/>
              </a:rPr>
              <a:t>Project Overview</a:t>
            </a:r>
            <a:endParaRPr lang="en-US" sz="5400" dirty="0"/>
          </a:p>
        </p:txBody>
      </p:sp>
      <p:sp>
        <p:nvSpPr>
          <p:cNvPr id="3" name="Text Placeholder 2">
            <a:extLst>
              <a:ext uri="{FF2B5EF4-FFF2-40B4-BE49-F238E27FC236}">
                <a16:creationId xmlns:a16="http://schemas.microsoft.com/office/drawing/2014/main" id="{39A25282-EE8D-71BA-6317-EECFE33238DC}"/>
              </a:ext>
            </a:extLst>
          </p:cNvPr>
          <p:cNvSpPr>
            <a:spLocks noGrp="1"/>
          </p:cNvSpPr>
          <p:nvPr>
            <p:ph type="body" sz="quarter" idx="14"/>
          </p:nvPr>
        </p:nvSpPr>
        <p:spPr>
          <a:xfrm>
            <a:off x="6096000" y="523784"/>
            <a:ext cx="5055704" cy="5409706"/>
          </a:xfrm>
        </p:spPr>
        <p:txBody>
          <a:bodyPr>
            <a:normAutofit/>
          </a:bodyPr>
          <a:lstStyle/>
          <a:p>
            <a:pPr lvl="0" algn="ctr"/>
            <a:endParaRPr lang="en-US" sz="1600" dirty="0">
              <a:effectLst/>
              <a:latin typeface="Calibri" panose="020F0502020204030204" pitchFamily="34" charset="0"/>
              <a:ea typeface="Times New Roman" panose="02020603050405020304" pitchFamily="18" charset="0"/>
              <a:cs typeface="Calibri" panose="020F0502020204030204" pitchFamily="34" charset="0"/>
            </a:endParaRPr>
          </a:p>
          <a:p>
            <a:pPr algn="ctr"/>
            <a:r>
              <a:rPr lang="en-US" b="1" dirty="0">
                <a:effectLst/>
                <a:latin typeface="Calibri" panose="020F0502020204030204" pitchFamily="34" charset="0"/>
                <a:ea typeface="Times New Roman" panose="02020603050405020304" pitchFamily="18" charset="0"/>
                <a:cs typeface="Calibri" panose="020F0502020204030204" pitchFamily="34" charset="0"/>
              </a:rPr>
              <a:t>Context</a:t>
            </a:r>
          </a:p>
          <a:p>
            <a:pPr algn="just"/>
            <a:r>
              <a:rPr lang="en-US" sz="1600" dirty="0">
                <a:effectLst/>
                <a:latin typeface="Calibri" panose="020F0502020204030204" pitchFamily="34" charset="0"/>
                <a:ea typeface="Times New Roman" panose="02020603050405020304" pitchFamily="18" charset="0"/>
                <a:cs typeface="Calibri" panose="020F0502020204030204" pitchFamily="34" charset="0"/>
              </a:rPr>
              <a:t>Nigeria has experienced fluctuating security challenges over the past decade, driven by insurgency, armed banditry, communal conflicts, and criminal activities. Understanding the patterns behind these incidents is critical for strategic intervention and resource allocation.</a:t>
            </a:r>
          </a:p>
          <a:p>
            <a:pPr algn="ctr"/>
            <a:r>
              <a:rPr lang="en-US" b="1" dirty="0">
                <a:latin typeface="Calibri" panose="020F0502020204030204" pitchFamily="34" charset="0"/>
                <a:ea typeface="Calibri" panose="020F0502020204030204" pitchFamily="34" charset="0"/>
                <a:cs typeface="Times New Roman" panose="02020603050405020304" pitchFamily="18" charset="0"/>
              </a:rPr>
              <a:t>Objective</a:t>
            </a:r>
          </a:p>
          <a:p>
            <a:pPr marL="0" marR="0" algn="just">
              <a:lnSpc>
                <a:spcPct val="107000"/>
              </a:lnSpc>
              <a:spcBef>
                <a:spcPts val="0"/>
              </a:spcBef>
              <a:spcAft>
                <a:spcPts val="800"/>
              </a:spcAft>
            </a:pPr>
            <a:r>
              <a:rPr lang="en-US" sz="1600" dirty="0">
                <a:effectLst/>
                <a:latin typeface="Calibri" panose="020F0502020204030204" pitchFamily="34" charset="0"/>
                <a:ea typeface="Calibri" panose="020F0502020204030204" pitchFamily="34" charset="0"/>
                <a:cs typeface="Times New Roman" panose="02020603050405020304" pitchFamily="18" charset="0"/>
              </a:rPr>
              <a:t>This analysis examines </a:t>
            </a:r>
            <a:r>
              <a:rPr lang="en-US" sz="1600" b="1" dirty="0">
                <a:effectLst/>
                <a:latin typeface="Calibri" panose="020F0502020204030204" pitchFamily="34" charset="0"/>
                <a:ea typeface="Calibri" panose="020F0502020204030204" pitchFamily="34" charset="0"/>
                <a:cs typeface="Times New Roman" panose="02020603050405020304" pitchFamily="18" charset="0"/>
              </a:rPr>
              <a:t>security incidents across Nigeria over multiple years</a:t>
            </a:r>
            <a:r>
              <a:rPr lang="en-US" sz="1600" dirty="0">
                <a:effectLst/>
                <a:latin typeface="Calibri" panose="020F0502020204030204" pitchFamily="34" charset="0"/>
                <a:ea typeface="Calibri" panose="020F0502020204030204" pitchFamily="34" charset="0"/>
                <a:cs typeface="Times New Roman" panose="02020603050405020304" pitchFamily="18" charset="0"/>
              </a:rPr>
              <a:t>, with the goal of: </a:t>
            </a:r>
          </a:p>
          <a:p>
            <a:pPr marL="285750" marR="0" lvl="0" indent="-285750" algn="just" fontAlgn="base">
              <a:lnSpc>
                <a:spcPct val="107000"/>
              </a:lnSpc>
              <a:spcBef>
                <a:spcPts val="0"/>
              </a:spcBef>
              <a:spcAft>
                <a:spcPts val="0"/>
              </a:spcAft>
              <a:buSzPts val="1200"/>
              <a:buFont typeface="Wingdings" panose="05000000000000000000" pitchFamily="2" charset="2"/>
              <a:buChar char="v"/>
            </a:pPr>
            <a:r>
              <a:rPr lang="en-US" sz="1600" u="none" strike="noStrike" dirty="0">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Understanding </a:t>
            </a:r>
            <a:r>
              <a:rPr lang="en-US" sz="1600" b="1" u="none" strike="noStrike" dirty="0">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rPr>
              <a:t>how security incidents are evolving over time</a:t>
            </a:r>
            <a:endParaRPr lang="en-US" sz="1600" u="none" strike="noStrike" dirty="0">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endParaRPr>
          </a:p>
          <a:p>
            <a:pPr marL="285750" marR="0" lvl="0" indent="-285750" algn="just" fontAlgn="base">
              <a:lnSpc>
                <a:spcPct val="107000"/>
              </a:lnSpc>
              <a:spcBef>
                <a:spcPts val="0"/>
              </a:spcBef>
              <a:spcAft>
                <a:spcPts val="0"/>
              </a:spcAft>
              <a:buSzPts val="1200"/>
              <a:buFont typeface="Wingdings" panose="05000000000000000000" pitchFamily="2" charset="2"/>
              <a:buChar char="v"/>
            </a:pPr>
            <a:r>
              <a:rPr lang="en-US" sz="1600" u="none" strike="noStrike" dirty="0">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Identifying </a:t>
            </a:r>
            <a:r>
              <a:rPr lang="en-US" sz="1600" b="1" u="none" strike="noStrike" dirty="0">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rPr>
              <a:t>geographic hotspots</a:t>
            </a:r>
            <a:endParaRPr lang="en-US" sz="1600" u="none" strike="noStrike" dirty="0">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endParaRPr>
          </a:p>
          <a:p>
            <a:pPr marL="285750" marR="0" lvl="0" indent="-285750" algn="just" fontAlgn="base">
              <a:lnSpc>
                <a:spcPct val="107000"/>
              </a:lnSpc>
              <a:spcBef>
                <a:spcPts val="0"/>
              </a:spcBef>
              <a:spcAft>
                <a:spcPts val="0"/>
              </a:spcAft>
              <a:buSzPts val="1200"/>
              <a:buFont typeface="Wingdings" panose="05000000000000000000" pitchFamily="2" charset="2"/>
              <a:buChar char="v"/>
            </a:pPr>
            <a:r>
              <a:rPr lang="en-US" sz="1600" u="none" strike="noStrike" dirty="0">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Uncovering </a:t>
            </a:r>
            <a:r>
              <a:rPr lang="en-US" sz="1600" b="1" u="none" strike="noStrike" dirty="0">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rPr>
              <a:t>key perpetrators driving insecurity</a:t>
            </a:r>
            <a:endParaRPr lang="en-US" sz="1600" u="none" strike="noStrike" dirty="0">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endParaRPr>
          </a:p>
          <a:p>
            <a:pPr marL="285750" marR="0" lvl="0" indent="-285750" algn="just" fontAlgn="base">
              <a:lnSpc>
                <a:spcPct val="107000"/>
              </a:lnSpc>
              <a:spcBef>
                <a:spcPts val="0"/>
              </a:spcBef>
              <a:spcAft>
                <a:spcPts val="0"/>
              </a:spcAft>
              <a:buSzPts val="1200"/>
              <a:buFont typeface="Wingdings" panose="05000000000000000000" pitchFamily="2" charset="2"/>
              <a:buChar char="v"/>
            </a:pPr>
            <a:r>
              <a:rPr lang="en-US" sz="1600" u="none" strike="noStrike" dirty="0">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Understanding the hidden motive or agenda behind the insurgency</a:t>
            </a:r>
          </a:p>
          <a:p>
            <a:pPr marL="285750" marR="0" lvl="0" indent="-285750" algn="just" fontAlgn="base">
              <a:lnSpc>
                <a:spcPct val="107000"/>
              </a:lnSpc>
              <a:spcBef>
                <a:spcPts val="0"/>
              </a:spcBef>
              <a:spcAft>
                <a:spcPts val="800"/>
              </a:spcAft>
              <a:buSzPts val="1200"/>
              <a:buFont typeface="Wingdings" panose="05000000000000000000" pitchFamily="2" charset="2"/>
              <a:buChar char="v"/>
            </a:pPr>
            <a:r>
              <a:rPr lang="en-US" sz="1600" u="none" strike="noStrike" dirty="0">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Supporting </a:t>
            </a:r>
            <a:r>
              <a:rPr lang="en-US" sz="1600" b="1" u="none" strike="noStrike" dirty="0">
                <a:effectLst/>
                <a:uFill>
                  <a:solidFill>
                    <a:srgbClr val="000000"/>
                  </a:solidFill>
                </a:uFill>
                <a:latin typeface="Calibri" panose="020F0502020204030204" pitchFamily="34" charset="0"/>
                <a:ea typeface="Calibri" panose="020F0502020204030204" pitchFamily="34" charset="0"/>
                <a:cs typeface="Times New Roman" panose="02020603050405020304" pitchFamily="18" charset="0"/>
              </a:rPr>
              <a:t>data-driven security planning and intervention</a:t>
            </a:r>
            <a:endParaRPr lang="en-US" sz="1600" b="1" dirty="0">
              <a:effectLst/>
              <a:latin typeface="Calibri" panose="020F0502020204030204" pitchFamily="34" charset="0"/>
              <a:ea typeface="Calibri" panose="020F0502020204030204" pitchFamily="34" charset="0"/>
              <a:cs typeface="Times New Roman" panose="02020603050405020304" pitchFamily="18" charset="0"/>
            </a:endParaRPr>
          </a:p>
          <a:p>
            <a:pPr lvl="0" algn="ctr"/>
            <a:endParaRPr lang="en-US" sz="2000" b="1" noProof="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09924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CF8F5-609D-E31E-6659-2E3CE63097D7}"/>
              </a:ext>
            </a:extLst>
          </p:cNvPr>
          <p:cNvSpPr>
            <a:spLocks noGrp="1"/>
          </p:cNvSpPr>
          <p:nvPr>
            <p:ph type="title"/>
          </p:nvPr>
        </p:nvSpPr>
        <p:spPr>
          <a:xfrm>
            <a:off x="810001" y="1741064"/>
            <a:ext cx="10571998" cy="602641"/>
          </a:xfrm>
        </p:spPr>
        <p:txBody>
          <a:bodyPr/>
          <a:lstStyle/>
          <a:p>
            <a:pPr lvl="0"/>
            <a:r>
              <a:rPr lang="en-US" sz="2400" noProof="0" dirty="0">
                <a:solidFill>
                  <a:schemeClr val="tx1"/>
                </a:solidFill>
                <a:latin typeface="Calibri" panose="020F0502020204030204" pitchFamily="34" charset="0"/>
                <a:cs typeface="Calibri" panose="020F0502020204030204" pitchFamily="34" charset="0"/>
              </a:rPr>
              <a:t>DATASET OVERVIEW</a:t>
            </a:r>
            <a:endParaRPr lang="en-US" sz="2000" noProof="0" dirty="0">
              <a:solidFill>
                <a:schemeClr val="tx1"/>
              </a:solidFill>
              <a:latin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29F16AEF-ABBB-D2DD-A297-5819AEB9AF67}"/>
              </a:ext>
            </a:extLst>
          </p:cNvPr>
          <p:cNvSpPr>
            <a:spLocks noGrp="1"/>
          </p:cNvSpPr>
          <p:nvPr>
            <p:ph type="subTitle" idx="1"/>
          </p:nvPr>
        </p:nvSpPr>
        <p:spPr>
          <a:xfrm>
            <a:off x="3409025" y="2894120"/>
            <a:ext cx="3098720" cy="2743200"/>
          </a:xfrm>
        </p:spPr>
        <p:txBody>
          <a:bodyPr>
            <a:normAutofit/>
          </a:bodyPr>
          <a:lstStyle/>
          <a:p>
            <a:pPr algn="l"/>
            <a:r>
              <a:rPr lang="en-US" sz="1600" dirty="0">
                <a:latin typeface="Calibri" panose="020F0502020204030204" pitchFamily="34" charset="0"/>
                <a:cs typeface="Calibri" panose="020F0502020204030204" pitchFamily="34" charset="0"/>
              </a:rPr>
              <a:t>Time Period: 2020 – 2025</a:t>
            </a:r>
          </a:p>
          <a:p>
            <a:pPr algn="l"/>
            <a:r>
              <a:rPr lang="en-US" sz="1600" b="0" dirty="0">
                <a:latin typeface="Calibri" panose="020F0502020204030204" pitchFamily="34" charset="0"/>
                <a:cs typeface="Calibri" panose="020F0502020204030204" pitchFamily="34" charset="0"/>
              </a:rPr>
              <a:t>Metrics analyzed:</a:t>
            </a:r>
          </a:p>
          <a:p>
            <a:pPr algn="l"/>
            <a:r>
              <a:rPr lang="en-US" sz="1600" b="0" dirty="0">
                <a:latin typeface="Calibri" panose="020F0502020204030204" pitchFamily="34" charset="0"/>
                <a:cs typeface="Calibri" panose="020F0502020204030204" pitchFamily="34" charset="0"/>
              </a:rPr>
              <a:t>• Total Incidents</a:t>
            </a:r>
            <a:br>
              <a:rPr lang="en-US" sz="1600" b="0" dirty="0">
                <a:latin typeface="Calibri" panose="020F0502020204030204" pitchFamily="34" charset="0"/>
                <a:cs typeface="Calibri" panose="020F0502020204030204" pitchFamily="34" charset="0"/>
              </a:rPr>
            </a:br>
            <a:r>
              <a:rPr lang="en-US" sz="1600" b="0" dirty="0">
                <a:latin typeface="Calibri" panose="020F0502020204030204" pitchFamily="34" charset="0"/>
                <a:cs typeface="Calibri" panose="020F0502020204030204" pitchFamily="34" charset="0"/>
              </a:rPr>
              <a:t>• Fatalities</a:t>
            </a:r>
            <a:br>
              <a:rPr lang="en-US" sz="1600" b="0" dirty="0">
                <a:latin typeface="Calibri" panose="020F0502020204030204" pitchFamily="34" charset="0"/>
                <a:cs typeface="Calibri" panose="020F0502020204030204" pitchFamily="34" charset="0"/>
              </a:rPr>
            </a:br>
            <a:r>
              <a:rPr lang="en-US" sz="1600" b="0" dirty="0">
                <a:latin typeface="Calibri" panose="020F0502020204030204" pitchFamily="34" charset="0"/>
                <a:cs typeface="Calibri" panose="020F0502020204030204" pitchFamily="34" charset="0"/>
              </a:rPr>
              <a:t>• Kidnapping cases</a:t>
            </a:r>
            <a:br>
              <a:rPr lang="en-US" sz="1600" b="0" dirty="0">
                <a:latin typeface="Calibri" panose="020F0502020204030204" pitchFamily="34" charset="0"/>
                <a:cs typeface="Calibri" panose="020F0502020204030204" pitchFamily="34" charset="0"/>
              </a:rPr>
            </a:br>
            <a:r>
              <a:rPr lang="en-US" sz="1600" b="0" dirty="0">
                <a:latin typeface="Calibri" panose="020F0502020204030204" pitchFamily="34" charset="0"/>
                <a:cs typeface="Calibri" panose="020F0502020204030204" pitchFamily="34" charset="0"/>
              </a:rPr>
              <a:t>• Perpetrator groups</a:t>
            </a:r>
            <a:br>
              <a:rPr lang="en-US" sz="1600" b="0" dirty="0">
                <a:latin typeface="Calibri" panose="020F0502020204030204" pitchFamily="34" charset="0"/>
                <a:cs typeface="Calibri" panose="020F0502020204030204" pitchFamily="34" charset="0"/>
              </a:rPr>
            </a:br>
            <a:r>
              <a:rPr lang="en-US" sz="1600" b="0" dirty="0">
                <a:latin typeface="Calibri" panose="020F0502020204030204" pitchFamily="34" charset="0"/>
                <a:cs typeface="Calibri" panose="020F0502020204030204" pitchFamily="34" charset="0"/>
              </a:rPr>
              <a:t>• Regional distribution</a:t>
            </a:r>
            <a:br>
              <a:rPr lang="en-US" sz="1600" b="0" dirty="0">
                <a:latin typeface="Calibri" panose="020F0502020204030204" pitchFamily="34" charset="0"/>
                <a:cs typeface="Calibri" panose="020F0502020204030204" pitchFamily="34" charset="0"/>
              </a:rPr>
            </a:br>
            <a:r>
              <a:rPr lang="en-US" sz="1600" b="0" dirty="0">
                <a:latin typeface="Calibri" panose="020F0502020204030204" pitchFamily="34" charset="0"/>
                <a:cs typeface="Calibri" panose="020F0502020204030204" pitchFamily="34" charset="0"/>
              </a:rPr>
              <a:t>• State-level impact</a:t>
            </a:r>
          </a:p>
          <a:p>
            <a:pPr lvl="0"/>
            <a:endParaRPr lang="en-US" noProof="0" dirty="0"/>
          </a:p>
        </p:txBody>
      </p:sp>
      <p:sp>
        <p:nvSpPr>
          <p:cNvPr id="4" name="Subtitle 2">
            <a:extLst>
              <a:ext uri="{FF2B5EF4-FFF2-40B4-BE49-F238E27FC236}">
                <a16:creationId xmlns:a16="http://schemas.microsoft.com/office/drawing/2014/main" id="{5198A16F-3BC1-4ECA-93FB-4A97B7395B7C}"/>
              </a:ext>
            </a:extLst>
          </p:cNvPr>
          <p:cNvSpPr txBox="1">
            <a:spLocks/>
          </p:cNvSpPr>
          <p:nvPr/>
        </p:nvSpPr>
        <p:spPr>
          <a:xfrm>
            <a:off x="7155401" y="2894121"/>
            <a:ext cx="4121131" cy="1518081"/>
          </a:xfrm>
          <a:prstGeom prst="rect">
            <a:avLst/>
          </a:prstGeom>
          <a:effectLst/>
        </p:spPr>
        <p:txBody>
          <a:bodyPr vert="horz" lIns="91440" tIns="45720" rIns="91440" bIns="45720" rtlCol="0" anchor="ctr">
            <a:normAutofit/>
          </a:bodyPr>
          <a:lstStyle>
            <a:lvl1pPr marL="0" indent="0" algn="ctr" defTabSz="457200" rtl="0" eaLnBrk="1" latinLnBrk="0" hangingPunct="1">
              <a:spcBef>
                <a:spcPct val="20000"/>
              </a:spcBef>
              <a:spcAft>
                <a:spcPts val="600"/>
              </a:spcAft>
              <a:buClr>
                <a:schemeClr val="tx1"/>
              </a:buClr>
              <a:buFont typeface="Arial" panose="020B0604020202020204" pitchFamily="34" charset="0"/>
              <a:buNone/>
              <a:defRPr sz="1800" b="1" kern="1200">
                <a:solidFill>
                  <a:schemeClr val="tx1"/>
                </a:solidFill>
                <a:latin typeface="+mn-lt"/>
                <a:ea typeface="+mn-ea"/>
                <a:cs typeface="+mn-cs"/>
              </a:defRPr>
            </a:lvl1pPr>
            <a:lvl2pPr marL="457200" indent="0" algn="ctr" defTabSz="457200" rtl="0" eaLnBrk="1" latinLnBrk="0" hangingPunct="1">
              <a:spcBef>
                <a:spcPct val="20000"/>
              </a:spcBef>
              <a:spcAft>
                <a:spcPts val="600"/>
              </a:spcAft>
              <a:buClr>
                <a:schemeClr val="tx1"/>
              </a:buClr>
              <a:buFont typeface="Arial" panose="020B0604020202020204" pitchFamily="34" charset="0"/>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tx1"/>
              </a:buClr>
              <a:buFont typeface="Arial" panose="020B0604020202020204" pitchFamily="34" charset="0"/>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tx1"/>
              </a:buClr>
              <a:buFont typeface="Arial" panose="020B0604020202020204" pitchFamily="34" charset="0"/>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tx1"/>
              </a:buClr>
              <a:buFont typeface="Arial" panose="020B0604020202020204" pitchFamily="34" charset="0"/>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1"/>
              </a:buClr>
              <a:buFont typeface="Wingdings 2" charset="2"/>
              <a:buNone/>
              <a:defRPr sz="1200" kern="1200">
                <a:solidFill>
                  <a:schemeClr val="tx1">
                    <a:tint val="75000"/>
                  </a:schemeClr>
                </a:solidFill>
                <a:latin typeface="+mn-lt"/>
                <a:ea typeface="+mn-ea"/>
                <a:cs typeface="+mn-cs"/>
              </a:defRPr>
            </a:lvl9pPr>
          </a:lstStyle>
          <a:p>
            <a:pPr algn="l"/>
            <a:r>
              <a:rPr lang="en-US" sz="1600" dirty="0">
                <a:latin typeface="Calibri" panose="020F0502020204030204" pitchFamily="34" charset="0"/>
                <a:cs typeface="Calibri" panose="020F0502020204030204" pitchFamily="34" charset="0"/>
              </a:rPr>
              <a:t>Tools Used</a:t>
            </a:r>
          </a:p>
          <a:p>
            <a:pPr algn="l"/>
            <a:r>
              <a:rPr lang="en-US" sz="1600" b="0" dirty="0">
                <a:latin typeface="Calibri" panose="020F0502020204030204" pitchFamily="34" charset="0"/>
                <a:cs typeface="Calibri" panose="020F0502020204030204" pitchFamily="34" charset="0"/>
              </a:rPr>
              <a:t>• Microsoft Power BI</a:t>
            </a:r>
            <a:br>
              <a:rPr lang="en-US" sz="1600" b="0" dirty="0">
                <a:latin typeface="Calibri" panose="020F0502020204030204" pitchFamily="34" charset="0"/>
                <a:cs typeface="Calibri" panose="020F0502020204030204" pitchFamily="34" charset="0"/>
              </a:rPr>
            </a:br>
            <a:r>
              <a:rPr lang="en-US" sz="1600" b="0" dirty="0">
                <a:latin typeface="Calibri" panose="020F0502020204030204" pitchFamily="34" charset="0"/>
                <a:cs typeface="Calibri" panose="020F0502020204030204" pitchFamily="34" charset="0"/>
              </a:rPr>
              <a:t>• Microsoft Excel</a:t>
            </a:r>
            <a:br>
              <a:rPr lang="en-US" sz="1600" b="0" dirty="0">
                <a:latin typeface="Calibri" panose="020F0502020204030204" pitchFamily="34" charset="0"/>
                <a:cs typeface="Calibri" panose="020F0502020204030204" pitchFamily="34" charset="0"/>
              </a:rPr>
            </a:br>
            <a:r>
              <a:rPr lang="en-US" sz="1600" b="0" dirty="0">
                <a:latin typeface="Calibri" panose="020F0502020204030204" pitchFamily="34" charset="0"/>
                <a:cs typeface="Calibri" panose="020F0502020204030204" pitchFamily="34" charset="0"/>
              </a:rPr>
              <a:t>• SQL</a:t>
            </a:r>
          </a:p>
          <a:p>
            <a:endParaRPr lang="en-US" sz="1400" dirty="0"/>
          </a:p>
        </p:txBody>
      </p:sp>
    </p:spTree>
    <p:extLst>
      <p:ext uri="{BB962C8B-B14F-4D97-AF65-F5344CB8AC3E}">
        <p14:creationId xmlns:p14="http://schemas.microsoft.com/office/powerpoint/2010/main" val="1173936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D2C28E1-E4D9-4508-A422-0CEAF76018AB}"/>
              </a:ext>
            </a:extLst>
          </p:cNvPr>
          <p:cNvPicPr>
            <a:picLocks noGrp="1" noChangeAspect="1"/>
          </p:cNvPicPr>
          <p:nvPr>
            <p:ph sz="quarter" idx="10"/>
          </p:nvPr>
        </p:nvPicPr>
        <p:blipFill>
          <a:blip r:embed="rId3"/>
          <a:stretch>
            <a:fillRect/>
          </a:stretch>
        </p:blipFill>
        <p:spPr>
          <a:xfrm>
            <a:off x="4784870" y="588393"/>
            <a:ext cx="6856413" cy="1206868"/>
          </a:xfrm>
        </p:spPr>
      </p:pic>
      <p:sp>
        <p:nvSpPr>
          <p:cNvPr id="6" name="Title 1">
            <a:extLst>
              <a:ext uri="{FF2B5EF4-FFF2-40B4-BE49-F238E27FC236}">
                <a16:creationId xmlns:a16="http://schemas.microsoft.com/office/drawing/2014/main" id="{91825F83-5C09-4121-A4BE-80675600D61C}"/>
              </a:ext>
            </a:extLst>
          </p:cNvPr>
          <p:cNvSpPr txBox="1">
            <a:spLocks/>
          </p:cNvSpPr>
          <p:nvPr/>
        </p:nvSpPr>
        <p:spPr>
          <a:xfrm>
            <a:off x="4784871" y="1795260"/>
            <a:ext cx="6960286" cy="3202868"/>
          </a:xfrm>
          <a:prstGeom prst="rect">
            <a:avLst/>
          </a:prstGeom>
          <a:noFill/>
          <a:effectLst/>
        </p:spPr>
        <p:txBody>
          <a:bodyPr vert="horz" lIns="91440" tIns="45720" rIns="91440" bIns="45720" rtlCol="0" anchor="ctr">
            <a:noAutofit/>
          </a:bodyPr>
          <a:lstStyle>
            <a:lvl1pPr algn="ctr" defTabSz="457200" rtl="0" eaLnBrk="1" latinLnBrk="0" hangingPunct="1">
              <a:spcBef>
                <a:spcPct val="0"/>
              </a:spcBef>
              <a:buNone/>
              <a:defRPr sz="3600" b="1" kern="1200" spc="0" baseline="0">
                <a:ln>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sz="1600" dirty="0">
                <a:solidFill>
                  <a:schemeClr val="bg1"/>
                </a:solidFill>
                <a:latin typeface="Calibri" panose="020F0502020204030204" pitchFamily="34" charset="0"/>
                <a:cs typeface="Calibri" panose="020F0502020204030204" pitchFamily="34" charset="0"/>
              </a:rPr>
              <a:t>Key findings:</a:t>
            </a:r>
          </a:p>
          <a:p>
            <a:pPr algn="l"/>
            <a:r>
              <a:rPr lang="en-US" sz="1600" b="0" dirty="0">
                <a:solidFill>
                  <a:schemeClr val="bg1"/>
                </a:solidFill>
                <a:latin typeface="Calibri" panose="020F0502020204030204" pitchFamily="34" charset="0"/>
                <a:cs typeface="Calibri" panose="020F0502020204030204" pitchFamily="34" charset="0"/>
              </a:rPr>
              <a:t>• 900 security incidents recorded</a:t>
            </a:r>
            <a:br>
              <a:rPr lang="en-US" sz="1600" b="0" dirty="0">
                <a:solidFill>
                  <a:schemeClr val="bg1"/>
                </a:solidFill>
                <a:latin typeface="Calibri" panose="020F0502020204030204" pitchFamily="34" charset="0"/>
                <a:cs typeface="Calibri" panose="020F0502020204030204" pitchFamily="34" charset="0"/>
              </a:rPr>
            </a:br>
            <a:r>
              <a:rPr lang="en-US" sz="1600" b="0" dirty="0">
                <a:solidFill>
                  <a:schemeClr val="bg1"/>
                </a:solidFill>
                <a:latin typeface="Calibri" panose="020F0502020204030204" pitchFamily="34" charset="0"/>
                <a:cs typeface="Calibri" panose="020F0502020204030204" pitchFamily="34" charset="0"/>
              </a:rPr>
              <a:t>• 13,664 total fatalities</a:t>
            </a:r>
            <a:br>
              <a:rPr lang="en-US" sz="1600" b="0" dirty="0">
                <a:solidFill>
                  <a:schemeClr val="bg1"/>
                </a:solidFill>
                <a:latin typeface="Calibri" panose="020F0502020204030204" pitchFamily="34" charset="0"/>
                <a:cs typeface="Calibri" panose="020F0502020204030204" pitchFamily="34" charset="0"/>
              </a:rPr>
            </a:br>
            <a:r>
              <a:rPr lang="en-US" sz="1600" b="0" dirty="0">
                <a:solidFill>
                  <a:schemeClr val="bg1"/>
                </a:solidFill>
                <a:latin typeface="Calibri" panose="020F0502020204030204" pitchFamily="34" charset="0"/>
                <a:cs typeface="Calibri" panose="020F0502020204030204" pitchFamily="34" charset="0"/>
              </a:rPr>
              <a:t>• North West most affected region</a:t>
            </a:r>
            <a:br>
              <a:rPr lang="en-US" sz="1600" b="0" dirty="0">
                <a:solidFill>
                  <a:schemeClr val="bg1"/>
                </a:solidFill>
                <a:latin typeface="Calibri" panose="020F0502020204030204" pitchFamily="34" charset="0"/>
                <a:cs typeface="Calibri" panose="020F0502020204030204" pitchFamily="34" charset="0"/>
              </a:rPr>
            </a:br>
            <a:r>
              <a:rPr lang="en-US" sz="1600" b="0" dirty="0">
                <a:solidFill>
                  <a:schemeClr val="bg1"/>
                </a:solidFill>
                <a:latin typeface="Calibri" panose="020F0502020204030204" pitchFamily="34" charset="0"/>
                <a:cs typeface="Calibri" panose="020F0502020204030204" pitchFamily="34" charset="0"/>
              </a:rPr>
              <a:t>• Katsina most affected state</a:t>
            </a:r>
            <a:br>
              <a:rPr lang="en-US" sz="1600" b="0" dirty="0">
                <a:solidFill>
                  <a:schemeClr val="bg1"/>
                </a:solidFill>
                <a:latin typeface="Calibri" panose="020F0502020204030204" pitchFamily="34" charset="0"/>
                <a:cs typeface="Calibri" panose="020F0502020204030204" pitchFamily="34" charset="0"/>
              </a:rPr>
            </a:br>
            <a:r>
              <a:rPr lang="en-US" sz="1600" b="0" dirty="0">
                <a:solidFill>
                  <a:schemeClr val="bg1"/>
                </a:solidFill>
                <a:latin typeface="Calibri" panose="020F0502020204030204" pitchFamily="34" charset="0"/>
                <a:cs typeface="Calibri" panose="020F0502020204030204" pitchFamily="34" charset="0"/>
              </a:rPr>
              <a:t>• Boko Haram identified as deadliest group</a:t>
            </a:r>
          </a:p>
          <a:p>
            <a:endParaRPr lang="en-US" sz="2400" dirty="0">
              <a:latin typeface="Calibri" panose="020F0502020204030204" pitchFamily="34" charset="0"/>
              <a:cs typeface="Calibri" panose="020F0502020204030204" pitchFamily="34" charset="0"/>
            </a:endParaRPr>
          </a:p>
        </p:txBody>
      </p:sp>
      <p:sp>
        <p:nvSpPr>
          <p:cNvPr id="7" name="Title 4">
            <a:extLst>
              <a:ext uri="{FF2B5EF4-FFF2-40B4-BE49-F238E27FC236}">
                <a16:creationId xmlns:a16="http://schemas.microsoft.com/office/drawing/2014/main" id="{D8780601-95BD-4C53-8568-388A3C843AF1}"/>
              </a:ext>
            </a:extLst>
          </p:cNvPr>
          <p:cNvSpPr txBox="1">
            <a:spLocks/>
          </p:cNvSpPr>
          <p:nvPr/>
        </p:nvSpPr>
        <p:spPr>
          <a:xfrm>
            <a:off x="614693" y="479392"/>
            <a:ext cx="3926134" cy="514908"/>
          </a:xfrm>
          <a:prstGeom prst="rect">
            <a:avLst/>
          </a:prstGeom>
          <a:noFill/>
          <a:effectLst/>
        </p:spPr>
        <p:txBody>
          <a:bodyPr vert="horz" lIns="91440" tIns="45720" rIns="91440" bIns="45720" rtlCol="0" anchor="ctr">
            <a:noAutofit/>
          </a:bodyPr>
          <a:lstStyle>
            <a:lvl1pPr algn="ctr" defTabSz="457200" rtl="0" eaLnBrk="1" latinLnBrk="0" hangingPunct="1">
              <a:spcBef>
                <a:spcPct val="0"/>
              </a:spcBef>
              <a:buNone/>
              <a:defRPr sz="3600" b="1" kern="1200" spc="0" baseline="0">
                <a:ln>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1600" dirty="0">
              <a:latin typeface="Calibri" panose="020F0502020204030204" pitchFamily="34" charset="0"/>
              <a:cs typeface="Calibri" panose="020F0502020204030204" pitchFamily="34" charset="0"/>
            </a:endParaRPr>
          </a:p>
        </p:txBody>
      </p:sp>
      <p:sp>
        <p:nvSpPr>
          <p:cNvPr id="9" name="Title 8">
            <a:extLst>
              <a:ext uri="{FF2B5EF4-FFF2-40B4-BE49-F238E27FC236}">
                <a16:creationId xmlns:a16="http://schemas.microsoft.com/office/drawing/2014/main" id="{07619FD5-A945-42BC-AC3E-FA51757D4D7D}"/>
              </a:ext>
            </a:extLst>
          </p:cNvPr>
          <p:cNvSpPr>
            <a:spLocks noGrp="1"/>
          </p:cNvSpPr>
          <p:nvPr>
            <p:ph type="title"/>
          </p:nvPr>
        </p:nvSpPr>
        <p:spPr/>
        <p:txBody>
          <a:bodyPr/>
          <a:lstStyle/>
          <a:p>
            <a:r>
              <a:rPr lang="en-US" sz="2400" dirty="0">
                <a:latin typeface="Calibri" panose="020F0502020204030204" pitchFamily="34" charset="0"/>
                <a:cs typeface="Calibri" panose="020F0502020204030204" pitchFamily="34" charset="0"/>
              </a:rPr>
              <a:t>KEY METRICS OVERVIEW</a:t>
            </a:r>
            <a:br>
              <a:rPr lang="en-US" sz="3600" dirty="0">
                <a:latin typeface="Calibri" panose="020F0502020204030204" pitchFamily="34" charset="0"/>
                <a:cs typeface="Calibri" panose="020F0502020204030204" pitchFamily="34" charset="0"/>
              </a:rPr>
            </a:br>
            <a:endParaRPr lang="en-US" dirty="0"/>
          </a:p>
        </p:txBody>
      </p:sp>
    </p:spTree>
    <p:extLst>
      <p:ext uri="{BB962C8B-B14F-4D97-AF65-F5344CB8AC3E}">
        <p14:creationId xmlns:p14="http://schemas.microsoft.com/office/powerpoint/2010/main" val="959076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C3CC30A-0D1B-4F3E-A46D-5D56D76AD6E6}"/>
              </a:ext>
            </a:extLst>
          </p:cNvPr>
          <p:cNvSpPr txBox="1">
            <a:spLocks/>
          </p:cNvSpPr>
          <p:nvPr/>
        </p:nvSpPr>
        <p:spPr>
          <a:xfrm>
            <a:off x="971279" y="4154750"/>
            <a:ext cx="10571998" cy="1953087"/>
          </a:xfrm>
          <a:prstGeom prst="rect">
            <a:avLst/>
          </a:prstGeom>
          <a:effectLst/>
        </p:spPr>
        <p:txBody>
          <a:bodyPr vert="horz" lIns="91440" tIns="45720" rIns="91440" bIns="45720" rtlCol="0" anchor="b">
            <a:noAutofit/>
          </a:bodyPr>
          <a:lstStyle>
            <a:lvl1pPr algn="ctr" defTabSz="457200" rtl="0" eaLnBrk="1" latinLnBrk="0" hangingPunct="1">
              <a:spcBef>
                <a:spcPct val="0"/>
              </a:spcBef>
              <a:buNone/>
              <a:defRPr sz="3600" b="1" kern="1200" spc="0" baseline="0">
                <a:ln>
                  <a:noFill/>
                </a:ln>
                <a:solidFill>
                  <a:schemeClr val="accent4">
                    <a:lumMod val="60000"/>
                    <a:lumOff val="40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sz="1600" dirty="0">
                <a:solidFill>
                  <a:schemeClr val="tx1"/>
                </a:solidFill>
                <a:latin typeface="Calibri" panose="020F0502020204030204" pitchFamily="34" charset="0"/>
                <a:cs typeface="Calibri" panose="020F0502020204030204" pitchFamily="34" charset="0"/>
              </a:rPr>
              <a:t>Insights</a:t>
            </a:r>
          </a:p>
          <a:p>
            <a:pPr algn="l"/>
            <a:r>
              <a:rPr lang="en-US" sz="1600" b="0" dirty="0">
                <a:solidFill>
                  <a:schemeClr val="tx1"/>
                </a:solidFill>
                <a:latin typeface="Calibri" panose="020F0502020204030204" pitchFamily="34" charset="0"/>
                <a:cs typeface="Calibri" panose="020F0502020204030204" pitchFamily="34" charset="0"/>
              </a:rPr>
              <a:t>• Security incidents declined in 2022, then rose again in 2024</a:t>
            </a:r>
            <a:br>
              <a:rPr lang="en-US" sz="1600" b="0" dirty="0">
                <a:solidFill>
                  <a:schemeClr val="tx1"/>
                </a:solidFill>
                <a:latin typeface="Calibri" panose="020F0502020204030204" pitchFamily="34" charset="0"/>
                <a:cs typeface="Calibri" panose="020F0502020204030204" pitchFamily="34" charset="0"/>
              </a:rPr>
            </a:br>
            <a:r>
              <a:rPr lang="en-US" sz="1600" b="0" dirty="0">
                <a:solidFill>
                  <a:schemeClr val="tx1"/>
                </a:solidFill>
                <a:latin typeface="Calibri" panose="020F0502020204030204" pitchFamily="34" charset="0"/>
                <a:cs typeface="Calibri" panose="020F0502020204030204" pitchFamily="34" charset="0"/>
              </a:rPr>
              <a:t>• Fatalities follow a similar trend pattern</a:t>
            </a:r>
            <a:br>
              <a:rPr lang="en-US" sz="1600" b="0" dirty="0">
                <a:solidFill>
                  <a:schemeClr val="tx1"/>
                </a:solidFill>
                <a:latin typeface="Calibri" panose="020F0502020204030204" pitchFamily="34" charset="0"/>
                <a:cs typeface="Calibri" panose="020F0502020204030204" pitchFamily="34" charset="0"/>
              </a:rPr>
            </a:br>
            <a:r>
              <a:rPr lang="en-US" sz="1600" b="0" dirty="0">
                <a:solidFill>
                  <a:schemeClr val="tx1"/>
                </a:solidFill>
                <a:latin typeface="Calibri" panose="020F0502020204030204" pitchFamily="34" charset="0"/>
                <a:cs typeface="Calibri" panose="020F0502020204030204" pitchFamily="34" charset="0"/>
              </a:rPr>
              <a:t>• Kidnapping incidents increased significantly in recent years</a:t>
            </a:r>
          </a:p>
          <a:p>
            <a:pPr algn="l"/>
            <a:r>
              <a:rPr lang="en-US" sz="1600" dirty="0">
                <a:solidFill>
                  <a:schemeClr val="tx1"/>
                </a:solidFill>
                <a:latin typeface="Calibri" panose="020F0502020204030204" pitchFamily="34" charset="0"/>
                <a:cs typeface="Calibri" panose="020F0502020204030204" pitchFamily="34" charset="0"/>
              </a:rPr>
              <a:t>Key Interpretation</a:t>
            </a:r>
          </a:p>
          <a:p>
            <a:pPr algn="l"/>
            <a:r>
              <a:rPr lang="en-US" sz="1600" b="0" dirty="0">
                <a:solidFill>
                  <a:schemeClr val="tx1"/>
                </a:solidFill>
                <a:latin typeface="Calibri" panose="020F0502020204030204" pitchFamily="34" charset="0"/>
                <a:cs typeface="Calibri" panose="020F0502020204030204" pitchFamily="34" charset="0"/>
              </a:rPr>
              <a:t>This suggests a shift toward economically motivated violence, especially kidnapping activities.</a:t>
            </a:r>
          </a:p>
          <a:p>
            <a:endParaRPr lang="en-US" sz="1600" dirty="0">
              <a:latin typeface="Calibri" panose="020F0502020204030204" pitchFamily="34" charset="0"/>
              <a:cs typeface="Calibri" panose="020F0502020204030204" pitchFamily="34" charset="0"/>
            </a:endParaRP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Add-in 3" title="Microsoft Power BI">
                <a:extLst>
                  <a:ext uri="{FF2B5EF4-FFF2-40B4-BE49-F238E27FC236}">
                    <a16:creationId xmlns:a16="http://schemas.microsoft.com/office/drawing/2014/main" id="{1864EACB-95A1-40BA-AD3D-FFCD4F73DAE5}"/>
                  </a:ext>
                </a:extLst>
              </p:cNvPr>
              <p:cNvGraphicFramePr>
                <a:graphicFrameLocks noGrp="1"/>
              </p:cNvGraphicFramePr>
              <p:nvPr>
                <p:extLst>
                  <p:ext uri="{D42A27DB-BD31-4B8C-83A1-F6EECF244321}">
                    <p14:modId xmlns:p14="http://schemas.microsoft.com/office/powerpoint/2010/main" val="264429933"/>
                  </p:ext>
                </p:extLst>
              </p:nvPr>
            </p:nvGraphicFramePr>
            <p:xfrm>
              <a:off x="2547902" y="577049"/>
              <a:ext cx="6818051" cy="3577701"/>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4" name="Add-in 3" title="Microsoft Power BI">
                <a:extLst>
                  <a:ext uri="{FF2B5EF4-FFF2-40B4-BE49-F238E27FC236}">
                    <a16:creationId xmlns:a16="http://schemas.microsoft.com/office/drawing/2014/main" id="{1864EACB-95A1-40BA-AD3D-FFCD4F73DAE5}"/>
                  </a:ext>
                </a:extLst>
              </p:cNvPr>
              <p:cNvPicPr>
                <a:picLocks noGrp="1" noRot="1" noChangeAspect="1" noMove="1" noResize="1" noEditPoints="1" noAdjustHandles="1" noChangeArrowheads="1" noChangeShapeType="1"/>
              </p:cNvPicPr>
              <p:nvPr/>
            </p:nvPicPr>
            <p:blipFill>
              <a:blip r:embed="rId4"/>
              <a:stretch>
                <a:fillRect/>
              </a:stretch>
            </p:blipFill>
            <p:spPr>
              <a:xfrm>
                <a:off x="2547902" y="577049"/>
                <a:ext cx="6818051" cy="3577701"/>
              </a:xfrm>
              <a:prstGeom prst="rect">
                <a:avLst/>
              </a:prstGeom>
            </p:spPr>
          </p:pic>
        </mc:Fallback>
      </mc:AlternateContent>
      <p:sp>
        <p:nvSpPr>
          <p:cNvPr id="5" name="Title 4">
            <a:extLst>
              <a:ext uri="{FF2B5EF4-FFF2-40B4-BE49-F238E27FC236}">
                <a16:creationId xmlns:a16="http://schemas.microsoft.com/office/drawing/2014/main" id="{6F317191-C008-4F84-B78C-52928DF5E93B}"/>
              </a:ext>
            </a:extLst>
          </p:cNvPr>
          <p:cNvSpPr>
            <a:spLocks noGrp="1"/>
          </p:cNvSpPr>
          <p:nvPr>
            <p:ph type="title"/>
          </p:nvPr>
        </p:nvSpPr>
        <p:spPr>
          <a:xfrm>
            <a:off x="614693" y="479392"/>
            <a:ext cx="1737901" cy="514908"/>
          </a:xfrm>
        </p:spPr>
        <p:txBody>
          <a:bodyPr/>
          <a:lstStyle/>
          <a:p>
            <a:r>
              <a:rPr lang="en-US" sz="1600" spc="0" dirty="0">
                <a:solidFill>
                  <a:schemeClr val="tx1"/>
                </a:solidFill>
                <a:latin typeface="Calibri" panose="020F0502020204030204" pitchFamily="34" charset="0"/>
                <a:cs typeface="Calibri" panose="020F0502020204030204" pitchFamily="34" charset="0"/>
              </a:rPr>
              <a:t>YEARLY TRENDS</a:t>
            </a:r>
          </a:p>
        </p:txBody>
      </p:sp>
    </p:spTree>
    <p:extLst>
      <p:ext uri="{BB962C8B-B14F-4D97-AF65-F5344CB8AC3E}">
        <p14:creationId xmlns:p14="http://schemas.microsoft.com/office/powerpoint/2010/main" val="1722147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C3CC30A-0D1B-4F3E-A46D-5D56D76AD6E6}"/>
              </a:ext>
            </a:extLst>
          </p:cNvPr>
          <p:cNvSpPr txBox="1">
            <a:spLocks/>
          </p:cNvSpPr>
          <p:nvPr/>
        </p:nvSpPr>
        <p:spPr>
          <a:xfrm>
            <a:off x="971279" y="4154750"/>
            <a:ext cx="10571998" cy="2212731"/>
          </a:xfrm>
          <a:prstGeom prst="rect">
            <a:avLst/>
          </a:prstGeom>
          <a:effectLst/>
        </p:spPr>
        <p:txBody>
          <a:bodyPr vert="horz" lIns="91440" tIns="45720" rIns="91440" bIns="45720" rtlCol="0" anchor="b">
            <a:noAutofit/>
          </a:bodyPr>
          <a:lstStyle>
            <a:lvl1pPr algn="ctr" defTabSz="457200" rtl="0" eaLnBrk="1" latinLnBrk="0" hangingPunct="1">
              <a:spcBef>
                <a:spcPct val="0"/>
              </a:spcBef>
              <a:buNone/>
              <a:defRPr sz="3600" b="1" kern="1200" spc="0" baseline="0">
                <a:ln>
                  <a:noFill/>
                </a:ln>
                <a:solidFill>
                  <a:schemeClr val="accent4">
                    <a:lumMod val="60000"/>
                    <a:lumOff val="40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sz="1600" dirty="0">
                <a:solidFill>
                  <a:schemeClr val="tx1"/>
                </a:solidFill>
                <a:latin typeface="Calibri" panose="020F0502020204030204" pitchFamily="34" charset="0"/>
                <a:cs typeface="Calibri" panose="020F0502020204030204" pitchFamily="34" charset="0"/>
              </a:rPr>
              <a:t>Key Insights</a:t>
            </a:r>
          </a:p>
          <a:p>
            <a:pPr algn="l"/>
            <a:r>
              <a:rPr lang="en-US" sz="1600" b="0" dirty="0">
                <a:solidFill>
                  <a:schemeClr val="tx1"/>
                </a:solidFill>
                <a:latin typeface="Calibri" panose="020F0502020204030204" pitchFamily="34" charset="0"/>
                <a:cs typeface="Calibri" panose="020F0502020204030204" pitchFamily="34" charset="0"/>
              </a:rPr>
              <a:t>• Violence is heavily concentrated in Northern Nigeria</a:t>
            </a:r>
          </a:p>
          <a:p>
            <a:pPr algn="l"/>
            <a:r>
              <a:rPr lang="en-US" sz="1600" b="0" dirty="0">
                <a:solidFill>
                  <a:schemeClr val="tx1"/>
                </a:solidFill>
                <a:latin typeface="Calibri" panose="020F0502020204030204" pitchFamily="34" charset="0"/>
                <a:cs typeface="Calibri" panose="020F0502020204030204" pitchFamily="34" charset="0"/>
              </a:rPr>
              <a:t>Top affected states:</a:t>
            </a:r>
          </a:p>
          <a:p>
            <a:pPr algn="l"/>
            <a:r>
              <a:rPr lang="en-US" sz="1600" b="0" dirty="0">
                <a:solidFill>
                  <a:schemeClr val="tx1"/>
                </a:solidFill>
                <a:latin typeface="Calibri" panose="020F0502020204030204" pitchFamily="34" charset="0"/>
                <a:cs typeface="Calibri" panose="020F0502020204030204" pitchFamily="34" charset="0"/>
              </a:rPr>
              <a:t>• Katsina</a:t>
            </a:r>
            <a:br>
              <a:rPr lang="en-US" sz="1600" b="0" dirty="0">
                <a:solidFill>
                  <a:schemeClr val="tx1"/>
                </a:solidFill>
                <a:latin typeface="Calibri" panose="020F0502020204030204" pitchFamily="34" charset="0"/>
                <a:cs typeface="Calibri" panose="020F0502020204030204" pitchFamily="34" charset="0"/>
              </a:rPr>
            </a:br>
            <a:r>
              <a:rPr lang="en-US" sz="1600" b="0" dirty="0">
                <a:solidFill>
                  <a:schemeClr val="tx1"/>
                </a:solidFill>
                <a:latin typeface="Calibri" panose="020F0502020204030204" pitchFamily="34" charset="0"/>
                <a:cs typeface="Calibri" panose="020F0502020204030204" pitchFamily="34" charset="0"/>
              </a:rPr>
              <a:t>• Zamfara</a:t>
            </a:r>
            <a:br>
              <a:rPr lang="en-US" sz="1600" b="0" dirty="0">
                <a:solidFill>
                  <a:schemeClr val="tx1"/>
                </a:solidFill>
                <a:latin typeface="Calibri" panose="020F0502020204030204" pitchFamily="34" charset="0"/>
                <a:cs typeface="Calibri" panose="020F0502020204030204" pitchFamily="34" charset="0"/>
              </a:rPr>
            </a:br>
            <a:r>
              <a:rPr lang="en-US" sz="1600" b="0" dirty="0">
                <a:solidFill>
                  <a:schemeClr val="tx1"/>
                </a:solidFill>
                <a:latin typeface="Calibri" panose="020F0502020204030204" pitchFamily="34" charset="0"/>
                <a:cs typeface="Calibri" panose="020F0502020204030204" pitchFamily="34" charset="0"/>
              </a:rPr>
              <a:t>• Sokoto</a:t>
            </a:r>
            <a:br>
              <a:rPr lang="en-US" sz="1600" b="0" dirty="0">
                <a:solidFill>
                  <a:schemeClr val="tx1"/>
                </a:solidFill>
                <a:latin typeface="Calibri" panose="020F0502020204030204" pitchFamily="34" charset="0"/>
                <a:cs typeface="Calibri" panose="020F0502020204030204" pitchFamily="34" charset="0"/>
              </a:rPr>
            </a:br>
            <a:r>
              <a:rPr lang="en-US" sz="1600" b="0" dirty="0">
                <a:solidFill>
                  <a:schemeClr val="tx1"/>
                </a:solidFill>
                <a:latin typeface="Calibri" panose="020F0502020204030204" pitchFamily="34" charset="0"/>
                <a:cs typeface="Calibri" panose="020F0502020204030204" pitchFamily="34" charset="0"/>
              </a:rPr>
              <a:t>• Yobe</a:t>
            </a:r>
          </a:p>
          <a:p>
            <a:pPr algn="l"/>
            <a:r>
              <a:rPr lang="en-US" sz="1600" dirty="0">
                <a:solidFill>
                  <a:schemeClr val="tx1"/>
                </a:solidFill>
                <a:latin typeface="Calibri" panose="020F0502020204030204" pitchFamily="34" charset="0"/>
                <a:cs typeface="Calibri" panose="020F0502020204030204" pitchFamily="34" charset="0"/>
              </a:rPr>
              <a:t>Key Interpretation</a:t>
            </a:r>
          </a:p>
          <a:p>
            <a:pPr algn="l"/>
            <a:r>
              <a:rPr lang="en-US" sz="1600" b="0" dirty="0">
                <a:solidFill>
                  <a:schemeClr val="tx1"/>
                </a:solidFill>
                <a:latin typeface="Calibri" panose="020F0502020204030204" pitchFamily="34" charset="0"/>
                <a:cs typeface="Calibri" panose="020F0502020204030204" pitchFamily="34" charset="0"/>
              </a:rPr>
              <a:t>Security threats are geographically concentrated rather than nationwide.</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2" name="Add-in 1" title="Microsoft Power BI">
                <a:extLst>
                  <a:ext uri="{FF2B5EF4-FFF2-40B4-BE49-F238E27FC236}">
                    <a16:creationId xmlns:a16="http://schemas.microsoft.com/office/drawing/2014/main" id="{B73EF171-3EA3-4A85-A39C-52B37730DD76}"/>
                  </a:ext>
                </a:extLst>
              </p:cNvPr>
              <p:cNvGraphicFramePr>
                <a:graphicFrameLocks noGrp="1"/>
              </p:cNvGraphicFramePr>
              <p:nvPr>
                <p:extLst>
                  <p:ext uri="{D42A27DB-BD31-4B8C-83A1-F6EECF244321}">
                    <p14:modId xmlns:p14="http://schemas.microsoft.com/office/powerpoint/2010/main" val="329049537"/>
                  </p:ext>
                </p:extLst>
              </p:nvPr>
            </p:nvGraphicFramePr>
            <p:xfrm>
              <a:off x="2290446" y="490519"/>
              <a:ext cx="7412862" cy="3664231"/>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2" name="Add-in 1" title="Microsoft Power BI">
                <a:extLst>
                  <a:ext uri="{FF2B5EF4-FFF2-40B4-BE49-F238E27FC236}">
                    <a16:creationId xmlns:a16="http://schemas.microsoft.com/office/drawing/2014/main" id="{B73EF171-3EA3-4A85-A39C-52B37730DD76}"/>
                  </a:ext>
                </a:extLst>
              </p:cNvPr>
              <p:cNvPicPr>
                <a:picLocks noGrp="1" noRot="1" noChangeAspect="1" noMove="1" noResize="1" noEditPoints="1" noAdjustHandles="1" noChangeArrowheads="1" noChangeShapeType="1"/>
              </p:cNvPicPr>
              <p:nvPr/>
            </p:nvPicPr>
            <p:blipFill>
              <a:blip r:embed="rId4"/>
              <a:stretch>
                <a:fillRect/>
              </a:stretch>
            </p:blipFill>
            <p:spPr>
              <a:xfrm>
                <a:off x="2290446" y="490519"/>
                <a:ext cx="7412862" cy="3664231"/>
              </a:xfrm>
              <a:prstGeom prst="rect">
                <a:avLst/>
              </a:prstGeom>
            </p:spPr>
          </p:pic>
        </mc:Fallback>
      </mc:AlternateContent>
      <p:sp>
        <p:nvSpPr>
          <p:cNvPr id="5" name="Title 4">
            <a:extLst>
              <a:ext uri="{FF2B5EF4-FFF2-40B4-BE49-F238E27FC236}">
                <a16:creationId xmlns:a16="http://schemas.microsoft.com/office/drawing/2014/main" id="{23A7CE77-2C8A-4309-A1F3-FC2D39C3291D}"/>
              </a:ext>
            </a:extLst>
          </p:cNvPr>
          <p:cNvSpPr>
            <a:spLocks noGrp="1"/>
          </p:cNvSpPr>
          <p:nvPr>
            <p:ph type="title"/>
          </p:nvPr>
        </p:nvSpPr>
        <p:spPr>
          <a:xfrm>
            <a:off x="408373" y="692455"/>
            <a:ext cx="1944221" cy="514908"/>
          </a:xfrm>
        </p:spPr>
        <p:txBody>
          <a:bodyPr/>
          <a:lstStyle/>
          <a:p>
            <a:r>
              <a:rPr lang="en-US" sz="1600" spc="0" dirty="0">
                <a:solidFill>
                  <a:schemeClr val="tx1"/>
                </a:solidFill>
                <a:latin typeface="Calibri" panose="020F0502020204030204" pitchFamily="34" charset="0"/>
                <a:cs typeface="Calibri" panose="020F0502020204030204" pitchFamily="34" charset="0"/>
              </a:rPr>
              <a:t>REGIONAL &amp; STATE INSIGHTS</a:t>
            </a:r>
          </a:p>
        </p:txBody>
      </p:sp>
    </p:spTree>
    <p:extLst>
      <p:ext uri="{BB962C8B-B14F-4D97-AF65-F5344CB8AC3E}">
        <p14:creationId xmlns:p14="http://schemas.microsoft.com/office/powerpoint/2010/main" val="3586254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C3CC30A-0D1B-4F3E-A46D-5D56D76AD6E6}"/>
              </a:ext>
            </a:extLst>
          </p:cNvPr>
          <p:cNvSpPr txBox="1">
            <a:spLocks/>
          </p:cNvSpPr>
          <p:nvPr/>
        </p:nvSpPr>
        <p:spPr>
          <a:xfrm>
            <a:off x="971280" y="4136995"/>
            <a:ext cx="4479610" cy="1890944"/>
          </a:xfrm>
          <a:prstGeom prst="rect">
            <a:avLst/>
          </a:prstGeom>
          <a:effectLst/>
        </p:spPr>
        <p:txBody>
          <a:bodyPr vert="horz" lIns="91440" tIns="45720" rIns="91440" bIns="45720" rtlCol="0" anchor="b">
            <a:noAutofit/>
          </a:bodyPr>
          <a:lstStyle>
            <a:lvl1pPr algn="ctr" defTabSz="457200" rtl="0" eaLnBrk="1" latinLnBrk="0" hangingPunct="1">
              <a:spcBef>
                <a:spcPct val="0"/>
              </a:spcBef>
              <a:buNone/>
              <a:defRPr sz="3600" b="1" kern="1200" spc="0" baseline="0">
                <a:ln>
                  <a:noFill/>
                </a:ln>
                <a:solidFill>
                  <a:schemeClr val="accent4">
                    <a:lumMod val="60000"/>
                    <a:lumOff val="40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342900" marR="0" lvl="0" indent="-342900" algn="just" fontAlgn="base">
              <a:buClr>
                <a:srgbClr val="000000"/>
              </a:buClr>
              <a:buSzPts val="1200"/>
              <a:buFont typeface="Arial" panose="020B0604020202020204" pitchFamily="34" charset="0"/>
              <a:buChar char="•"/>
            </a:pPr>
            <a:endParaRPr lang="en-US" sz="1800" b="0" u="none" strike="noStrike" dirty="0">
              <a:solidFill>
                <a:schemeClr val="tx1"/>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endParaRPr>
          </a:p>
          <a:p>
            <a:pPr marL="342900" marR="0" lvl="0" indent="-342900" algn="just" fontAlgn="base">
              <a:buClr>
                <a:srgbClr val="000000"/>
              </a:buClr>
              <a:buSzPts val="1200"/>
              <a:buFont typeface="Arial" panose="020B0604020202020204" pitchFamily="34" charset="0"/>
              <a:buChar char="•"/>
            </a:pPr>
            <a:endParaRPr lang="en-US" sz="1800" b="0" dirty="0">
              <a:solidFill>
                <a:schemeClr val="tx1"/>
              </a:solidFill>
              <a:uFill>
                <a:solidFill>
                  <a:srgbClr val="000000"/>
                </a:solidFill>
              </a:uFill>
              <a:latin typeface="Calibri" panose="020F0502020204030204" pitchFamily="34" charset="0"/>
              <a:ea typeface="Calibri" panose="020F0502020204030204" pitchFamily="34" charset="0"/>
              <a:cs typeface="Calibri" panose="020F0502020204030204" pitchFamily="34" charset="0"/>
            </a:endParaRPr>
          </a:p>
          <a:p>
            <a:pPr algn="just" fontAlgn="base">
              <a:buClr>
                <a:srgbClr val="000000"/>
              </a:buClr>
              <a:buSzPts val="1200"/>
            </a:pPr>
            <a:r>
              <a:rPr lang="en-US" sz="16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Who is driving the incidents?</a:t>
            </a:r>
            <a:endParaRPr lang="en-US" sz="1600" dirty="0">
              <a:solidFill>
                <a:schemeClr val="tx1"/>
              </a:solidFill>
              <a:latin typeface="Calibri" panose="020F0502020204030204" pitchFamily="34" charset="0"/>
              <a:cs typeface="Calibri" panose="020F0502020204030204" pitchFamily="34" charset="0"/>
            </a:endParaRPr>
          </a:p>
          <a:p>
            <a:pPr marR="0" lvl="0" algn="just" fontAlgn="base">
              <a:buClr>
                <a:srgbClr val="000000"/>
              </a:buClr>
              <a:buSzPts val="1200"/>
            </a:pPr>
            <a:endParaRPr lang="en-US" sz="1800" b="0" u="none" strike="noStrike" dirty="0">
              <a:solidFill>
                <a:schemeClr val="tx1"/>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endParaRPr>
          </a:p>
          <a:p>
            <a:pPr marL="342900" marR="0" lvl="0" indent="-342900" algn="just" fontAlgn="base">
              <a:buClr>
                <a:schemeClr val="tx1"/>
              </a:buClr>
              <a:buSzPct val="70000"/>
              <a:buFont typeface="Calibri" panose="020F0502020204030204" pitchFamily="34" charset="0"/>
              <a:buChar char="•"/>
            </a:pPr>
            <a:r>
              <a:rPr lang="en-US" sz="1600" b="0" u="none" strike="noStrike" dirty="0">
                <a:solidFill>
                  <a:schemeClr val="tx1"/>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Boko Haram</a:t>
            </a:r>
          </a:p>
          <a:p>
            <a:pPr marL="342900" marR="0" lvl="0" indent="-342900" algn="just" fontAlgn="base">
              <a:buClr>
                <a:schemeClr val="tx1"/>
              </a:buClr>
              <a:buSzPct val="70000"/>
              <a:buFont typeface="Calibri" panose="020F0502020204030204" pitchFamily="34" charset="0"/>
              <a:buChar char="•"/>
            </a:pPr>
            <a:r>
              <a:rPr lang="en-US" sz="1600" b="0" u="none" strike="noStrike" dirty="0">
                <a:solidFill>
                  <a:schemeClr val="tx1"/>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Armed Bandits </a:t>
            </a:r>
          </a:p>
          <a:p>
            <a:pPr marL="342900" marR="0" lvl="0" indent="-342900" algn="just" fontAlgn="base">
              <a:buClr>
                <a:schemeClr val="tx1"/>
              </a:buClr>
              <a:buSzPct val="70000"/>
              <a:buFont typeface="Calibri" panose="020F0502020204030204" pitchFamily="34" charset="0"/>
              <a:buChar char="•"/>
            </a:pPr>
            <a:r>
              <a:rPr lang="en-US" sz="1600" b="0" u="none" strike="noStrike" dirty="0">
                <a:solidFill>
                  <a:schemeClr val="tx1"/>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Fulani Herdsmen</a:t>
            </a:r>
          </a:p>
          <a:p>
            <a:pPr marL="342900" marR="0" lvl="0" indent="-342900" algn="just" fontAlgn="base">
              <a:buClr>
                <a:schemeClr val="tx1"/>
              </a:buClr>
              <a:buSzPct val="70000"/>
              <a:buFont typeface="Calibri" panose="020F0502020204030204" pitchFamily="34" charset="0"/>
              <a:buChar char="•"/>
            </a:pPr>
            <a:r>
              <a:rPr lang="en-US" sz="1600" b="0" u="none" strike="noStrike" dirty="0">
                <a:solidFill>
                  <a:schemeClr val="tx1"/>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ISWAP</a:t>
            </a:r>
            <a:endParaRPr lang="en-US" sz="1600" b="0" dirty="0">
              <a:solidFill>
                <a:schemeClr val="tx1"/>
              </a:solidFill>
              <a:uFill>
                <a:solidFill>
                  <a:srgbClr val="000000"/>
                </a:solidFill>
              </a:uFill>
              <a:latin typeface="Calibri" panose="020F0502020204030204" pitchFamily="34" charset="0"/>
              <a:ea typeface="Calibri" panose="020F0502020204030204" pitchFamily="34" charset="0"/>
              <a:cs typeface="Calibri" panose="020F0502020204030204" pitchFamily="34" charset="0"/>
            </a:endParaRPr>
          </a:p>
          <a:p>
            <a:pPr marL="342900" marR="0" lvl="0" indent="-342900" algn="just" fontAlgn="base">
              <a:buClr>
                <a:schemeClr val="tx1"/>
              </a:buClr>
              <a:buSzPct val="70000"/>
              <a:buFont typeface="Calibri" panose="020F0502020204030204" pitchFamily="34" charset="0"/>
              <a:buChar char="•"/>
            </a:pPr>
            <a:r>
              <a:rPr lang="en-US" sz="1600" b="0" u="none" strike="noStrike" dirty="0">
                <a:solidFill>
                  <a:schemeClr val="tx1"/>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Unknown / Unidentified</a:t>
            </a:r>
          </a:p>
        </p:txBody>
      </p:sp>
      <p:sp>
        <p:nvSpPr>
          <p:cNvPr id="5" name="Title 4">
            <a:extLst>
              <a:ext uri="{FF2B5EF4-FFF2-40B4-BE49-F238E27FC236}">
                <a16:creationId xmlns:a16="http://schemas.microsoft.com/office/drawing/2014/main" id="{23A7CE77-2C8A-4309-A1F3-FC2D39C3291D}"/>
              </a:ext>
            </a:extLst>
          </p:cNvPr>
          <p:cNvSpPr>
            <a:spLocks noGrp="1"/>
          </p:cNvSpPr>
          <p:nvPr>
            <p:ph type="title"/>
          </p:nvPr>
        </p:nvSpPr>
        <p:spPr>
          <a:xfrm>
            <a:off x="497153" y="585928"/>
            <a:ext cx="1944221" cy="514908"/>
          </a:xfrm>
        </p:spPr>
        <p:txBody>
          <a:bodyPr/>
          <a:lstStyle/>
          <a:p>
            <a:r>
              <a:rPr lang="en-US" sz="1600" spc="0" dirty="0">
                <a:solidFill>
                  <a:schemeClr val="tx1"/>
                </a:solidFill>
                <a:latin typeface="Calibri" panose="020F0502020204030204" pitchFamily="34" charset="0"/>
                <a:cs typeface="Calibri" panose="020F0502020204030204" pitchFamily="34" charset="0"/>
              </a:rPr>
              <a:t>PERPETRATOR ANALYSIS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Add-in 5" title="Microsoft Power BI">
                <a:extLst>
                  <a:ext uri="{FF2B5EF4-FFF2-40B4-BE49-F238E27FC236}">
                    <a16:creationId xmlns:a16="http://schemas.microsoft.com/office/drawing/2014/main" id="{AAD24510-2255-49F7-A692-CBB5C6162C66}"/>
                  </a:ext>
                </a:extLst>
              </p:cNvPr>
              <p:cNvGraphicFramePr>
                <a:graphicFrameLocks noGrp="1"/>
              </p:cNvGraphicFramePr>
              <p:nvPr>
                <p:extLst>
                  <p:ext uri="{D42A27DB-BD31-4B8C-83A1-F6EECF244321}">
                    <p14:modId xmlns:p14="http://schemas.microsoft.com/office/powerpoint/2010/main" val="1027364149"/>
                  </p:ext>
                </p:extLst>
              </p:nvPr>
            </p:nvGraphicFramePr>
            <p:xfrm>
              <a:off x="2805344" y="455015"/>
              <a:ext cx="6782539" cy="3681978"/>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6" name="Add-in 5" title="Microsoft Power BI">
                <a:extLst>
                  <a:ext uri="{FF2B5EF4-FFF2-40B4-BE49-F238E27FC236}">
                    <a16:creationId xmlns:a16="http://schemas.microsoft.com/office/drawing/2014/main" id="{AAD24510-2255-49F7-A692-CBB5C6162C66}"/>
                  </a:ext>
                </a:extLst>
              </p:cNvPr>
              <p:cNvPicPr>
                <a:picLocks noGrp="1" noRot="1" noChangeAspect="1" noMove="1" noResize="1" noEditPoints="1" noAdjustHandles="1" noChangeArrowheads="1" noChangeShapeType="1"/>
              </p:cNvPicPr>
              <p:nvPr/>
            </p:nvPicPr>
            <p:blipFill>
              <a:blip r:embed="rId4"/>
              <a:stretch>
                <a:fillRect/>
              </a:stretch>
            </p:blipFill>
            <p:spPr>
              <a:xfrm>
                <a:off x="2805344" y="455015"/>
                <a:ext cx="6782539" cy="3681978"/>
              </a:xfrm>
              <a:prstGeom prst="rect">
                <a:avLst/>
              </a:prstGeom>
            </p:spPr>
          </p:pic>
        </mc:Fallback>
      </mc:AlternateContent>
      <p:sp>
        <p:nvSpPr>
          <p:cNvPr id="7" name="Title 1">
            <a:extLst>
              <a:ext uri="{FF2B5EF4-FFF2-40B4-BE49-F238E27FC236}">
                <a16:creationId xmlns:a16="http://schemas.microsoft.com/office/drawing/2014/main" id="{ADFE3D9F-9FB9-463A-A299-9D394435C294}"/>
              </a:ext>
            </a:extLst>
          </p:cNvPr>
          <p:cNvSpPr txBox="1">
            <a:spLocks/>
          </p:cNvSpPr>
          <p:nvPr/>
        </p:nvSpPr>
        <p:spPr>
          <a:xfrm>
            <a:off x="5992428" y="4003829"/>
            <a:ext cx="5106140" cy="2095130"/>
          </a:xfrm>
          <a:prstGeom prst="rect">
            <a:avLst/>
          </a:prstGeom>
          <a:effectLst/>
        </p:spPr>
        <p:txBody>
          <a:bodyPr vert="horz" lIns="91440" tIns="45720" rIns="91440" bIns="45720" rtlCol="0" anchor="b">
            <a:noAutofit/>
          </a:bodyPr>
          <a:lstStyle>
            <a:lvl1pPr algn="ctr" defTabSz="457200" rtl="0" eaLnBrk="1" latinLnBrk="0" hangingPunct="1">
              <a:spcBef>
                <a:spcPct val="0"/>
              </a:spcBef>
              <a:buNone/>
              <a:defRPr sz="3600" b="1" kern="1200" spc="0" baseline="0">
                <a:ln>
                  <a:noFill/>
                </a:ln>
                <a:solidFill>
                  <a:schemeClr val="accent4">
                    <a:lumMod val="60000"/>
                    <a:lumOff val="40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endParaRPr lang="en-US" sz="1600" b="0" dirty="0">
              <a:solidFill>
                <a:schemeClr val="tx1"/>
              </a:solidFill>
              <a:latin typeface="Calibri" panose="020F0502020204030204" pitchFamily="34" charset="0"/>
              <a:cs typeface="Calibri" panose="020F0502020204030204" pitchFamily="34" charset="0"/>
            </a:endParaRPr>
          </a:p>
        </p:txBody>
      </p:sp>
      <p:sp>
        <p:nvSpPr>
          <p:cNvPr id="8" name="Title 1">
            <a:extLst>
              <a:ext uri="{FF2B5EF4-FFF2-40B4-BE49-F238E27FC236}">
                <a16:creationId xmlns:a16="http://schemas.microsoft.com/office/drawing/2014/main" id="{16139F95-17A5-4D6A-8222-46331A52C291}"/>
              </a:ext>
            </a:extLst>
          </p:cNvPr>
          <p:cNvSpPr txBox="1">
            <a:spLocks/>
          </p:cNvSpPr>
          <p:nvPr/>
        </p:nvSpPr>
        <p:spPr>
          <a:xfrm>
            <a:off x="5113529" y="4003829"/>
            <a:ext cx="6631619" cy="2219418"/>
          </a:xfrm>
          <a:prstGeom prst="rect">
            <a:avLst/>
          </a:prstGeom>
          <a:effectLst/>
        </p:spPr>
        <p:txBody>
          <a:bodyPr vert="horz" lIns="91440" tIns="45720" rIns="91440" bIns="45720" rtlCol="0" anchor="b">
            <a:noAutofit/>
          </a:bodyPr>
          <a:lstStyle>
            <a:lvl1pPr algn="ctr" defTabSz="457200" rtl="0" eaLnBrk="1" latinLnBrk="0" hangingPunct="1">
              <a:spcBef>
                <a:spcPct val="0"/>
              </a:spcBef>
              <a:buNone/>
              <a:defRPr sz="3600" b="1" kern="1200" spc="0" baseline="0">
                <a:ln>
                  <a:noFill/>
                </a:ln>
                <a:solidFill>
                  <a:schemeClr val="accent4">
                    <a:lumMod val="60000"/>
                    <a:lumOff val="40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R="0" lvl="0" algn="just" fontAlgn="base">
              <a:buClr>
                <a:srgbClr val="000000"/>
              </a:buClr>
              <a:buSzPts val="1200"/>
            </a:pPr>
            <a:r>
              <a:rPr lang="en-US" sz="1600" u="none" strike="noStrike" dirty="0">
                <a:solidFill>
                  <a:schemeClr val="tx1"/>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Key Insights </a:t>
            </a:r>
          </a:p>
          <a:p>
            <a:pPr marR="0" lvl="0" algn="just" fontAlgn="base">
              <a:buClr>
                <a:srgbClr val="000000"/>
              </a:buClr>
              <a:buSzPts val="1200"/>
            </a:pPr>
            <a:endParaRPr lang="en-US" sz="1600" u="none" strike="noStrike" dirty="0">
              <a:solidFill>
                <a:schemeClr val="tx1"/>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endParaRPr>
          </a:p>
          <a:p>
            <a:pPr algn="just" fontAlgn="base">
              <a:buClr>
                <a:srgbClr val="000000"/>
              </a:buClr>
              <a:buSzPts val="1200"/>
            </a:pPr>
            <a:r>
              <a:rPr lang="en-US" sz="1600" b="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Nigeria’s insecurity is mainly caused by a few repeat groups like Boko Haram, Armed Bandits, Fulani Militants, and ISWAP. At the same time, many incidents are blamed on unknown gunmen, showing that intelligence and tracking remain difficult. Because the problem is concentrated among specific groups, focused intelligence-driven actions (like creating more military bases in the affected regions) would work better than broad, general security measures.</a:t>
            </a:r>
          </a:p>
        </p:txBody>
      </p:sp>
      <p:cxnSp>
        <p:nvCxnSpPr>
          <p:cNvPr id="10" name="Straight Connector 9">
            <a:extLst>
              <a:ext uri="{FF2B5EF4-FFF2-40B4-BE49-F238E27FC236}">
                <a16:creationId xmlns:a16="http://schemas.microsoft.com/office/drawing/2014/main" id="{1492830C-58BB-4167-88B0-3FBF3E41F24B}"/>
              </a:ext>
            </a:extLst>
          </p:cNvPr>
          <p:cNvCxnSpPr/>
          <p:nvPr/>
        </p:nvCxnSpPr>
        <p:spPr>
          <a:xfrm>
            <a:off x="4980373" y="4216896"/>
            <a:ext cx="0" cy="2086253"/>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5956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0FD77978-171D-4CC4-88A6-267D09138694}"/>
              </a:ext>
            </a:extLst>
          </p:cNvPr>
          <p:cNvSpPr/>
          <p:nvPr/>
        </p:nvSpPr>
        <p:spPr>
          <a:xfrm>
            <a:off x="1180730" y="2343705"/>
            <a:ext cx="3355759" cy="1811046"/>
          </a:xfrm>
          <a:prstGeom prst="roundRect">
            <a:avLst/>
          </a:prstGeom>
          <a:solidFill>
            <a:srgbClr val="184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Content Placeholder 4">
            <a:extLst>
              <a:ext uri="{FF2B5EF4-FFF2-40B4-BE49-F238E27FC236}">
                <a16:creationId xmlns:a16="http://schemas.microsoft.com/office/drawing/2014/main" id="{6F377941-FDA2-9332-B360-A8C727991812}"/>
              </a:ext>
            </a:extLst>
          </p:cNvPr>
          <p:cNvSpPr>
            <a:spLocks noGrp="1"/>
          </p:cNvSpPr>
          <p:nvPr>
            <p:ph sz="quarter" idx="10"/>
          </p:nvPr>
        </p:nvSpPr>
        <p:spPr>
          <a:xfrm>
            <a:off x="5592932" y="1269507"/>
            <a:ext cx="5885895" cy="4927108"/>
          </a:xfrm>
        </p:spPr>
        <p:txBody>
          <a:bodyPr>
            <a:normAutofit/>
          </a:bodyPr>
          <a:lstStyle/>
          <a:p>
            <a:pPr marR="0" lvl="0" algn="just">
              <a:buSzPts val="1400"/>
            </a:pPr>
            <a:r>
              <a:rPr lang="en-US" sz="160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Based on the analysis:</a:t>
            </a:r>
          </a:p>
          <a:p>
            <a:pPr marL="285750" marR="0" lvl="0" indent="-285750" algn="l">
              <a:spcAft>
                <a:spcPts val="0"/>
              </a:spcAft>
              <a:buClr>
                <a:schemeClr val="bg1"/>
              </a:buClr>
              <a:buSzPts val="1400"/>
              <a:buFont typeface="Calibri" panose="020F0502020204030204" pitchFamily="34" charset="0"/>
              <a:buChar char="•"/>
            </a:pPr>
            <a:r>
              <a:rPr lang="en-US" sz="1600" b="0" u="none" strike="noStrike" dirty="0">
                <a:solidFill>
                  <a:schemeClr val="bg1"/>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Resources should be prioritized toward high-impact states</a:t>
            </a:r>
          </a:p>
          <a:p>
            <a:pPr marL="285750" marR="0" lvl="0" indent="-285750" algn="l" fontAlgn="base">
              <a:spcAft>
                <a:spcPts val="0"/>
              </a:spcAft>
              <a:buClr>
                <a:srgbClr val="000000"/>
              </a:buClr>
              <a:buSzPct val="88000"/>
              <a:buFont typeface="Calibri" panose="020F0502020204030204" pitchFamily="34" charset="0"/>
              <a:buChar char="•"/>
            </a:pPr>
            <a:r>
              <a:rPr lang="en-US" sz="1600" b="0" u="none" strike="noStrike" dirty="0">
                <a:solidFill>
                  <a:schemeClr val="bg1"/>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Creating of more military bases in these affected regions to help combat the insurgents</a:t>
            </a:r>
          </a:p>
          <a:p>
            <a:pPr marL="285750" marR="0" lvl="0" indent="-285750" algn="l" fontAlgn="base">
              <a:spcAft>
                <a:spcPts val="0"/>
              </a:spcAft>
              <a:buClr>
                <a:srgbClr val="000000"/>
              </a:buClr>
              <a:buSzPct val="88000"/>
              <a:buFont typeface="Calibri" panose="020F0502020204030204" pitchFamily="34" charset="0"/>
              <a:buChar char="•"/>
            </a:pPr>
            <a:r>
              <a:rPr lang="en-US" sz="1600" b="0" u="none" strike="noStrike" dirty="0">
                <a:solidFill>
                  <a:schemeClr val="bg1"/>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Improved perpetrator identification would significantly enhance response strategies</a:t>
            </a:r>
          </a:p>
          <a:p>
            <a:pPr marL="285750" marR="0" lvl="0" indent="-285750" algn="l">
              <a:spcAft>
                <a:spcPts val="0"/>
              </a:spcAft>
              <a:buClr>
                <a:schemeClr val="bg1"/>
              </a:buClr>
              <a:buSzPct val="88000"/>
              <a:buFont typeface="Calibri" panose="020F0502020204030204" pitchFamily="34" charset="0"/>
              <a:buChar char="•"/>
              <a:tabLst>
                <a:tab pos="457200" algn="l"/>
              </a:tabLst>
            </a:pPr>
            <a:r>
              <a:rPr lang="en-US" sz="1600" b="0" dirty="0">
                <a:solidFill>
                  <a:schemeClr val="bg1"/>
                </a:solidFill>
                <a:effectLst/>
                <a:latin typeface="Calibri" panose="020F0502020204030204" pitchFamily="34" charset="0"/>
                <a:ea typeface="Times New Roman" panose="02020603050405020304" pitchFamily="18" charset="0"/>
              </a:rPr>
              <a:t>Targeted deployment in high-burden northern states</a:t>
            </a:r>
            <a:endParaRPr lang="en-US" sz="1600" b="0" dirty="0">
              <a:solidFill>
                <a:schemeClr val="bg1"/>
              </a:solidFill>
              <a:effectLst/>
              <a:latin typeface="Times New Roman" panose="02020603050405020304" pitchFamily="18" charset="0"/>
              <a:ea typeface="Times New Roman" panose="02020603050405020304" pitchFamily="18" charset="0"/>
            </a:endParaRPr>
          </a:p>
          <a:p>
            <a:pPr marL="285750" marR="0" lvl="0" indent="-285750" algn="l">
              <a:spcAft>
                <a:spcPts val="0"/>
              </a:spcAft>
              <a:buClr>
                <a:schemeClr val="bg1"/>
              </a:buClr>
              <a:buSzPct val="88000"/>
              <a:buFont typeface="Calibri" panose="020F0502020204030204" pitchFamily="34" charset="0"/>
              <a:buChar char="•"/>
              <a:tabLst>
                <a:tab pos="457200" algn="l"/>
              </a:tabLst>
            </a:pPr>
            <a:r>
              <a:rPr lang="en-US" sz="1600" b="0" dirty="0">
                <a:solidFill>
                  <a:schemeClr val="bg1"/>
                </a:solidFill>
                <a:effectLst/>
                <a:latin typeface="Calibri" panose="020F0502020204030204" pitchFamily="34" charset="0"/>
                <a:ea typeface="Times New Roman" panose="02020603050405020304" pitchFamily="18" charset="0"/>
              </a:rPr>
              <a:t>Strengthened community policing and intelligence systems</a:t>
            </a:r>
            <a:endParaRPr lang="en-US" sz="1600" b="0" dirty="0">
              <a:solidFill>
                <a:schemeClr val="bg1"/>
              </a:solidFill>
              <a:effectLst/>
              <a:latin typeface="Times New Roman" panose="02020603050405020304" pitchFamily="18" charset="0"/>
              <a:ea typeface="Times New Roman" panose="02020603050405020304" pitchFamily="18" charset="0"/>
            </a:endParaRPr>
          </a:p>
          <a:p>
            <a:pPr marL="285750" marR="0" lvl="0" indent="-285750" algn="l">
              <a:spcAft>
                <a:spcPts val="0"/>
              </a:spcAft>
              <a:buClr>
                <a:schemeClr val="bg1"/>
              </a:buClr>
              <a:buSzPct val="88000"/>
              <a:buFont typeface="Calibri" panose="020F0502020204030204" pitchFamily="34" charset="0"/>
              <a:buChar char="•"/>
              <a:tabLst>
                <a:tab pos="457200" algn="l"/>
              </a:tabLst>
            </a:pPr>
            <a:r>
              <a:rPr lang="en-US" sz="1600" b="0" dirty="0">
                <a:solidFill>
                  <a:schemeClr val="bg1"/>
                </a:solidFill>
                <a:effectLst/>
                <a:latin typeface="Calibri" panose="020F0502020204030204" pitchFamily="34" charset="0"/>
                <a:ea typeface="Times New Roman" panose="02020603050405020304" pitchFamily="18" charset="0"/>
              </a:rPr>
              <a:t>Disruption of kidnapping and criminal financing networks</a:t>
            </a:r>
            <a:endParaRPr lang="en-US" sz="1600" b="0" dirty="0">
              <a:solidFill>
                <a:schemeClr val="bg1"/>
              </a:solidFill>
              <a:effectLst/>
              <a:latin typeface="Times New Roman" panose="02020603050405020304" pitchFamily="18" charset="0"/>
              <a:ea typeface="Times New Roman" panose="02020603050405020304" pitchFamily="18" charset="0"/>
            </a:endParaRPr>
          </a:p>
          <a:p>
            <a:pPr marL="285750" marR="0" lvl="0" indent="-285750" algn="l">
              <a:spcAft>
                <a:spcPts val="0"/>
              </a:spcAft>
              <a:buClr>
                <a:schemeClr val="bg1"/>
              </a:buClr>
              <a:buSzPct val="88000"/>
              <a:buFont typeface="Calibri" panose="020F0502020204030204" pitchFamily="34" charset="0"/>
              <a:buChar char="•"/>
              <a:tabLst>
                <a:tab pos="457200" algn="l"/>
              </a:tabLst>
            </a:pPr>
            <a:r>
              <a:rPr lang="en-US" sz="1600" b="0" dirty="0">
                <a:solidFill>
                  <a:schemeClr val="bg1"/>
                </a:solidFill>
                <a:effectLst/>
                <a:latin typeface="Calibri" panose="020F0502020204030204" pitchFamily="34" charset="0"/>
                <a:ea typeface="Times New Roman" panose="02020603050405020304" pitchFamily="18" charset="0"/>
              </a:rPr>
              <a:t>Improved data attribution and inter-security agency (like the armed forces, DSS and para-military) coordination</a:t>
            </a:r>
            <a:endParaRPr lang="en-US" sz="1600" b="0" dirty="0">
              <a:solidFill>
                <a:schemeClr val="bg1"/>
              </a:solidFill>
              <a:effectLst/>
              <a:latin typeface="Times New Roman" panose="02020603050405020304" pitchFamily="18" charset="0"/>
              <a:ea typeface="Times New Roman" panose="02020603050405020304" pitchFamily="18" charset="0"/>
            </a:endParaRPr>
          </a:p>
          <a:p>
            <a:pPr algn="just"/>
            <a:endParaRPr lang="en-US" sz="1600" dirty="0">
              <a:solidFill>
                <a:schemeClr val="bg1"/>
              </a:solidFill>
              <a:latin typeface="Calibri" panose="020F0502020204030204" pitchFamily="34" charset="0"/>
              <a:cs typeface="Calibri" panose="020F0502020204030204" pitchFamily="34" charset="0"/>
            </a:endParaRPr>
          </a:p>
        </p:txBody>
      </p:sp>
      <p:sp>
        <p:nvSpPr>
          <p:cNvPr id="14" name="Content Placeholder 4">
            <a:extLst>
              <a:ext uri="{FF2B5EF4-FFF2-40B4-BE49-F238E27FC236}">
                <a16:creationId xmlns:a16="http://schemas.microsoft.com/office/drawing/2014/main" id="{07F776E8-A579-44F3-83A0-8566C1229EDC}"/>
              </a:ext>
            </a:extLst>
          </p:cNvPr>
          <p:cNvSpPr txBox="1">
            <a:spLocks/>
          </p:cNvSpPr>
          <p:nvPr/>
        </p:nvSpPr>
        <p:spPr>
          <a:xfrm>
            <a:off x="1683059" y="2228293"/>
            <a:ext cx="2697332" cy="1811046"/>
          </a:xfrm>
          <a:prstGeom prst="rect">
            <a:avLst/>
          </a:prstGeom>
          <a:effectLst/>
        </p:spPr>
        <p:txBody>
          <a:bodyPr vert="horz" lIns="91440" tIns="45720" rIns="91440" bIns="45720" rtlCol="0" anchor="t">
            <a:normAutofit/>
          </a:bodyPr>
          <a:lstStyle>
            <a:lvl1pPr marL="0" indent="0" algn="ctr" defTabSz="457200" rtl="0" eaLnBrk="1" latinLnBrk="0" hangingPunct="1">
              <a:lnSpc>
                <a:spcPct val="150000"/>
              </a:lnSpc>
              <a:spcBef>
                <a:spcPts val="0"/>
              </a:spcBef>
              <a:spcAft>
                <a:spcPts val="600"/>
              </a:spcAft>
              <a:buClr>
                <a:schemeClr val="tx1"/>
              </a:buClr>
              <a:buFont typeface="Arial" panose="020B0604020202020204" pitchFamily="34" charset="0"/>
              <a:buNone/>
              <a:defRPr sz="1800" b="1" kern="1200">
                <a:solidFill>
                  <a:schemeClr val="accent1">
                    <a:lumMod val="50000"/>
                  </a:schemeClr>
                </a:solidFill>
                <a:latin typeface="+mn-lt"/>
                <a:ea typeface="+mn-ea"/>
                <a:cs typeface="+mn-cs"/>
              </a:defRPr>
            </a:lvl1pPr>
            <a:lvl2pPr marL="742950" indent="-285750" algn="ctr" defTabSz="457200" rtl="0" eaLnBrk="1" latinLnBrk="0" hangingPunct="1">
              <a:spcBef>
                <a:spcPct val="20000"/>
              </a:spcBef>
              <a:spcAft>
                <a:spcPts val="600"/>
              </a:spcAft>
              <a:buClr>
                <a:schemeClr val="accent1">
                  <a:lumMod val="50000"/>
                </a:schemeClr>
              </a:buClr>
              <a:buFont typeface="Arial" panose="020B0604020202020204" pitchFamily="34" charset="0"/>
              <a:buChar char="•"/>
              <a:defRPr sz="1600" kern="1200">
                <a:solidFill>
                  <a:schemeClr val="accent1">
                    <a:lumMod val="50000"/>
                  </a:schemeClr>
                </a:solidFill>
                <a:latin typeface="+mn-lt"/>
                <a:ea typeface="+mn-ea"/>
                <a:cs typeface="+mn-cs"/>
              </a:defRPr>
            </a:lvl2pPr>
            <a:lvl3pPr marL="1143000" indent="-228600" algn="ctr" defTabSz="457200" rtl="0" eaLnBrk="1" latinLnBrk="0" hangingPunct="1">
              <a:spcBef>
                <a:spcPct val="20000"/>
              </a:spcBef>
              <a:spcAft>
                <a:spcPts val="600"/>
              </a:spcAft>
              <a:buClr>
                <a:schemeClr val="accent1">
                  <a:lumMod val="50000"/>
                </a:schemeClr>
              </a:buClr>
              <a:buFont typeface="Arial" panose="020B0604020202020204" pitchFamily="34" charset="0"/>
              <a:buChar char="•"/>
              <a:defRPr sz="1400" kern="1200">
                <a:solidFill>
                  <a:schemeClr val="accent1">
                    <a:lumMod val="50000"/>
                  </a:schemeClr>
                </a:solidFill>
                <a:latin typeface="+mn-lt"/>
                <a:ea typeface="+mn-ea"/>
                <a:cs typeface="+mn-cs"/>
              </a:defRPr>
            </a:lvl3pPr>
            <a:lvl4pPr marL="1600200" indent="-228600" algn="ctr" defTabSz="457200" rtl="0" eaLnBrk="1" latinLnBrk="0" hangingPunct="1">
              <a:spcBef>
                <a:spcPct val="20000"/>
              </a:spcBef>
              <a:spcAft>
                <a:spcPts val="600"/>
              </a:spcAft>
              <a:buClr>
                <a:schemeClr val="accent1">
                  <a:lumMod val="50000"/>
                </a:schemeClr>
              </a:buClr>
              <a:buFont typeface="Arial" panose="020B0604020202020204" pitchFamily="34" charset="0"/>
              <a:buChar char="•"/>
              <a:defRPr sz="1200" kern="1200">
                <a:solidFill>
                  <a:schemeClr val="accent1">
                    <a:lumMod val="50000"/>
                  </a:schemeClr>
                </a:solidFill>
                <a:latin typeface="+mn-lt"/>
                <a:ea typeface="+mn-ea"/>
                <a:cs typeface="+mn-cs"/>
              </a:defRPr>
            </a:lvl4pPr>
            <a:lvl5pPr marL="2057400" indent="-228600" algn="ctr" defTabSz="457200" rtl="0" eaLnBrk="1" latinLnBrk="0" hangingPunct="1">
              <a:spcBef>
                <a:spcPct val="20000"/>
              </a:spcBef>
              <a:spcAft>
                <a:spcPts val="600"/>
              </a:spcAft>
              <a:buClr>
                <a:schemeClr val="accent1">
                  <a:lumMod val="50000"/>
                </a:schemeClr>
              </a:buClr>
              <a:buFont typeface="Arial" panose="020B0604020202020204" pitchFamily="34" charset="0"/>
              <a:buChar char="•"/>
              <a:defRPr sz="1200" kern="1200">
                <a:solidFill>
                  <a:schemeClr val="accent1">
                    <a:lumMod val="50000"/>
                  </a:schemeClr>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lgn="just"/>
            <a:endParaRPr lang="en-US" sz="1600" dirty="0">
              <a:solidFill>
                <a:schemeClr val="tx1"/>
              </a:solidFill>
              <a:latin typeface="Calibri" panose="020F0502020204030204" pitchFamily="34" charset="0"/>
              <a:cs typeface="Calibri" panose="020F0502020204030204" pitchFamily="34" charset="0"/>
            </a:endParaRPr>
          </a:p>
        </p:txBody>
      </p:sp>
      <p:sp>
        <p:nvSpPr>
          <p:cNvPr id="16" name="Title 4">
            <a:extLst>
              <a:ext uri="{FF2B5EF4-FFF2-40B4-BE49-F238E27FC236}">
                <a16:creationId xmlns:a16="http://schemas.microsoft.com/office/drawing/2014/main" id="{BD283B00-94B9-4C21-B5D4-550122C424F9}"/>
              </a:ext>
            </a:extLst>
          </p:cNvPr>
          <p:cNvSpPr>
            <a:spLocks noGrp="1"/>
          </p:cNvSpPr>
          <p:nvPr>
            <p:ph type="title"/>
          </p:nvPr>
        </p:nvSpPr>
        <p:spPr>
          <a:xfrm>
            <a:off x="1615736" y="2752079"/>
            <a:ext cx="2539014" cy="852255"/>
          </a:xfrm>
        </p:spPr>
        <p:txBody>
          <a:bodyPr/>
          <a:lstStyle/>
          <a:p>
            <a:pPr marR="0" lvl="0">
              <a:buSzPts val="1400"/>
            </a:pPr>
            <a:r>
              <a:rPr lang="en-US" sz="1800" b="1" dirty="0">
                <a:solidFill>
                  <a:schemeClr val="tx1"/>
                </a:solidFill>
                <a:effectLst/>
                <a:latin typeface="Calibri" panose="020F0502020204030204" pitchFamily="34" charset="0"/>
                <a:ea typeface="Times New Roman" panose="02020603050405020304" pitchFamily="18" charset="0"/>
              </a:rPr>
              <a:t>RECOMMENDATIONS FOR DECISION-MAKERS</a:t>
            </a:r>
            <a:endParaRPr lang="en-US" sz="1800" dirty="0">
              <a:solidFill>
                <a:schemeClr val="tx1"/>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937483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28204-2C6C-CA2B-7ACE-709BD219E7A2}"/>
              </a:ext>
            </a:extLst>
          </p:cNvPr>
          <p:cNvSpPr>
            <a:spLocks noGrp="1"/>
          </p:cNvSpPr>
          <p:nvPr>
            <p:ph type="title"/>
          </p:nvPr>
        </p:nvSpPr>
        <p:spPr>
          <a:xfrm>
            <a:off x="6577445" y="157638"/>
            <a:ext cx="4851694" cy="1005338"/>
          </a:xfrm>
        </p:spPr>
        <p:txBody>
          <a:bodyPr/>
          <a:lstStyle/>
          <a:p>
            <a:r>
              <a:rPr lang="en-US" sz="1800" dirty="0">
                <a:solidFill>
                  <a:schemeClr val="bg1"/>
                </a:solidFill>
                <a:latin typeface="Calibri" panose="020F0502020204030204" pitchFamily="34" charset="0"/>
                <a:cs typeface="Calibri" panose="020F0502020204030204" pitchFamily="34" charset="0"/>
              </a:rPr>
              <a:t>Final Executive Insight</a:t>
            </a:r>
            <a:br>
              <a:rPr lang="en-US" dirty="0">
                <a:solidFill>
                  <a:schemeClr val="tx1"/>
                </a:solidFill>
                <a:latin typeface="Calibri" panose="020F0502020204030204" pitchFamily="34" charset="0"/>
                <a:ea typeface="Times New Roman" panose="02020603050405020304" pitchFamily="18" charset="0"/>
                <a:cs typeface="Calibri" panose="020F0502020204030204" pitchFamily="34" charset="0"/>
              </a:rPr>
            </a:br>
            <a:endParaRPr lang="en-US" dirty="0"/>
          </a:p>
        </p:txBody>
      </p:sp>
      <p:pic>
        <p:nvPicPr>
          <p:cNvPr id="19" name="Picture Placeholder 18">
            <a:extLst>
              <a:ext uri="{FF2B5EF4-FFF2-40B4-BE49-F238E27FC236}">
                <a16:creationId xmlns:a16="http://schemas.microsoft.com/office/drawing/2014/main" id="{C9C7069E-8095-250E-5EC8-5FE8BAC18FAA}"/>
              </a:ext>
              <a:ext uri="{C183D7F6-B498-43B3-948B-1728B52AA6E4}">
                <adec:decorative xmlns:adec="http://schemas.microsoft.com/office/drawing/2017/decorative" val="1"/>
              </a:ext>
            </a:extLst>
          </p:cNvPr>
          <p:cNvPicPr>
            <a:picLocks noGrp="1" noChangeAspect="1"/>
          </p:cNvPicPr>
          <p:nvPr>
            <p:ph type="pic" sz="quarter" idx="11"/>
          </p:nvPr>
        </p:nvPicPr>
        <p:blipFill rotWithShape="1">
          <a:blip r:embed="rId3"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t="14" b="14"/>
          <a:stretch/>
        </p:blipFill>
        <p:spPr>
          <a:xfrm>
            <a:off x="1236663" y="776288"/>
            <a:ext cx="3433762" cy="5018087"/>
          </a:xfrm>
        </p:spPr>
      </p:pic>
      <p:sp>
        <p:nvSpPr>
          <p:cNvPr id="3" name="Content Placeholder 2">
            <a:extLst>
              <a:ext uri="{FF2B5EF4-FFF2-40B4-BE49-F238E27FC236}">
                <a16:creationId xmlns:a16="http://schemas.microsoft.com/office/drawing/2014/main" id="{A83F17C7-EFB2-790A-200F-D9BF2626198F}"/>
              </a:ext>
            </a:extLst>
          </p:cNvPr>
          <p:cNvSpPr>
            <a:spLocks noGrp="1"/>
          </p:cNvSpPr>
          <p:nvPr>
            <p:ph sz="quarter" idx="10"/>
          </p:nvPr>
        </p:nvSpPr>
        <p:spPr>
          <a:xfrm>
            <a:off x="6232123" y="621437"/>
            <a:ext cx="5885895" cy="6152225"/>
          </a:xfrm>
        </p:spPr>
        <p:txBody>
          <a:bodyPr>
            <a:normAutofit fontScale="92500" lnSpcReduction="10000"/>
          </a:bodyPr>
          <a:lstStyle/>
          <a:p>
            <a:pPr marL="0" marR="0" algn="just">
              <a:lnSpc>
                <a:spcPct val="107000"/>
              </a:lnSpc>
              <a:spcBef>
                <a:spcPts val="0"/>
              </a:spcBef>
              <a:spcAft>
                <a:spcPts val="800"/>
              </a:spcAft>
            </a:pPr>
            <a:r>
              <a:rPr lang="en-US"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This analysis examined terrorism and violent security incidents across Nigeria, identifying geographic concentration, perpetrator patterns, incident trends, and fatality distribution. The findings reveal a </a:t>
            </a:r>
            <a:r>
              <a:rPr lang="en-US" sz="16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highly concentrated security burden</a:t>
            </a:r>
            <a:r>
              <a:rPr lang="en-US"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rather than a uniformly distributed national crisis.</a:t>
            </a:r>
            <a:endParaRPr lang="en-US"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The </a:t>
            </a:r>
            <a:r>
              <a:rPr lang="en-US" sz="16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North West emerges as the most affected region</a:t>
            </a:r>
            <a:r>
              <a:rPr lang="en-US"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with states such as Katsina, Zamfara, and Sokoto consistently ranking highest in both incidents and fatalities. Fatality patterns closely mirror incident concentration, indicating not only frequent attacks but high lethality in key hotspot states.</a:t>
            </a:r>
            <a:endParaRPr lang="en-US"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Perpetrator analysis shows that a small number of identifiable armed groups (4) are responsible for the majority of recorded incidents. A notable surge in kidnapping-related activities in recent years suggests an increasing </a:t>
            </a:r>
            <a:r>
              <a:rPr lang="en-US" sz="16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economic dimension to insecurity</a:t>
            </a:r>
            <a:r>
              <a:rPr lang="en-US"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where criminal violence is driven not only by ideology but by financial incentives.</a:t>
            </a:r>
          </a:p>
          <a:p>
            <a:pPr marL="0" marR="0" algn="just">
              <a:lnSpc>
                <a:spcPct val="107000"/>
              </a:lnSpc>
              <a:spcBef>
                <a:spcPts val="0"/>
              </a:spcBef>
              <a:spcAft>
                <a:spcPts val="800"/>
              </a:spcAft>
            </a:pPr>
            <a:r>
              <a:rPr lang="en-US"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Nigeria’s security crisis is not merely a military challenge -- it is a </a:t>
            </a:r>
            <a:r>
              <a:rPr lang="en-US" sz="1600" b="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data, ideologic, economic, and governance challenge</a:t>
            </a:r>
            <a:r>
              <a:rPr lang="en-US"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Sustainable improvement will require smarter allocation of limited resources, deeper community engagement and policing, improved intelligence systems, expansion or creating more military bases and targeted socioeconomic intervention in the most affected regions.</a:t>
            </a:r>
            <a:endParaRPr lang="en-US"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A focused, intentional and evidence-driven approach by the security agents including the whole country’s security architecture — rather than broad reactive deployment — offers the strongest path toward measurable and sustainable national stability.</a:t>
            </a:r>
            <a:endParaRPr lang="en-US"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sz="9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itle 4">
            <a:extLst>
              <a:ext uri="{FF2B5EF4-FFF2-40B4-BE49-F238E27FC236}">
                <a16:creationId xmlns:a16="http://schemas.microsoft.com/office/drawing/2014/main" id="{6F9F839C-4FAC-4935-800C-2C3938B8B977}"/>
              </a:ext>
            </a:extLst>
          </p:cNvPr>
          <p:cNvSpPr txBox="1">
            <a:spLocks/>
          </p:cNvSpPr>
          <p:nvPr/>
        </p:nvSpPr>
        <p:spPr>
          <a:xfrm>
            <a:off x="1615736" y="2752079"/>
            <a:ext cx="2539014" cy="676921"/>
          </a:xfrm>
          <a:prstGeom prst="rect">
            <a:avLst/>
          </a:prstGeom>
          <a:noFill/>
          <a:effectLst/>
        </p:spPr>
        <p:txBody>
          <a:bodyPr vert="horz" lIns="91440" tIns="45720" rIns="91440" bIns="45720" rtlCol="0" anchor="b">
            <a:noAutofit/>
          </a:bodyPr>
          <a:lstStyle>
            <a:lvl1pPr algn="l" defTabSz="457200" rtl="0" eaLnBrk="1" latinLnBrk="0" hangingPunct="1">
              <a:spcBef>
                <a:spcPct val="0"/>
              </a:spcBef>
              <a:buNone/>
              <a:defRPr sz="3600" b="1" kern="1200" spc="0" baseline="0">
                <a:ln>
                  <a:noFill/>
                </a:ln>
                <a:solidFill>
                  <a:schemeClr val="accent1">
                    <a:lumMod val="50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buSzPts val="1400"/>
            </a:pPr>
            <a:r>
              <a:rPr lang="en-US" sz="2000" dirty="0">
                <a:solidFill>
                  <a:schemeClr val="tx1"/>
                </a:solidFill>
                <a:latin typeface="Calibri" panose="020F0502020204030204" pitchFamily="34" charset="0"/>
                <a:ea typeface="Times New Roman" panose="02020603050405020304" pitchFamily="18" charset="0"/>
                <a:cs typeface="Calibri" panose="020F0502020204030204" pitchFamily="34" charset="0"/>
              </a:rPr>
              <a:t>CONCLUSION</a:t>
            </a:r>
            <a:endParaRPr lang="en-US" sz="4000"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val="10144137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05011-03FC-652B-2538-4EAE68ABF80D}"/>
              </a:ext>
            </a:extLst>
          </p:cNvPr>
          <p:cNvSpPr>
            <a:spLocks noGrp="1"/>
          </p:cNvSpPr>
          <p:nvPr>
            <p:ph type="title"/>
          </p:nvPr>
        </p:nvSpPr>
        <p:spPr>
          <a:xfrm>
            <a:off x="770660" y="1017858"/>
            <a:ext cx="10650681" cy="2719255"/>
          </a:xfrm>
        </p:spPr>
        <p:txBody>
          <a:bodyPr/>
          <a:lstStyle/>
          <a:p>
            <a:pPr lvl="0"/>
            <a:r>
              <a:rPr lang="en-US" sz="6400" dirty="0">
                <a:solidFill>
                  <a:schemeClr val="tx1"/>
                </a:solidFill>
                <a:latin typeface="Calibri" panose="020F0502020204030204" pitchFamily="34" charset="0"/>
                <a:cs typeface="Calibri" panose="020F0502020204030204" pitchFamily="34" charset="0"/>
              </a:rPr>
              <a:t>Thank You</a:t>
            </a:r>
            <a:endParaRPr lang="en-US" sz="6400" noProof="0" dirty="0">
              <a:solidFill>
                <a:schemeClr val="tx1"/>
              </a:solidFill>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411A2349-EF0B-F33D-13F9-826241461648}"/>
              </a:ext>
            </a:extLst>
          </p:cNvPr>
          <p:cNvSpPr>
            <a:spLocks noGrp="1"/>
          </p:cNvSpPr>
          <p:nvPr>
            <p:ph type="body" sz="quarter" idx="14"/>
          </p:nvPr>
        </p:nvSpPr>
        <p:spPr>
          <a:xfrm>
            <a:off x="770660" y="4042066"/>
            <a:ext cx="10650681" cy="2296843"/>
          </a:xfrm>
        </p:spPr>
        <p:txBody>
          <a:bodyPr/>
          <a:lstStyle/>
          <a:p>
            <a:pPr lvl="0"/>
            <a:r>
              <a:rPr lang="en-US" noProof="0" dirty="0">
                <a:latin typeface="Calibri" panose="020F0502020204030204" pitchFamily="34" charset="0"/>
                <a:cs typeface="Calibri" panose="020F0502020204030204" pitchFamily="34" charset="0"/>
              </a:rPr>
              <a:t>Emmanuel Chinonso</a:t>
            </a:r>
            <a:br>
              <a:rPr lang="en-US" noProof="0" dirty="0">
                <a:latin typeface="Calibri" panose="020F0502020204030204" pitchFamily="34" charset="0"/>
                <a:cs typeface="Calibri" panose="020F0502020204030204" pitchFamily="34" charset="0"/>
              </a:rPr>
            </a:br>
            <a:r>
              <a:rPr lang="en-US" noProof="0" dirty="0">
                <a:latin typeface="Calibri" panose="020F0502020204030204" pitchFamily="34" charset="0"/>
                <a:cs typeface="Calibri" panose="020F0502020204030204" pitchFamily="34" charset="0"/>
              </a:rPr>
              <a:t>Data Analysts</a:t>
            </a:r>
          </a:p>
          <a:p>
            <a:pPr lvl="0"/>
            <a:r>
              <a:rPr lang="en-US" dirty="0">
                <a:latin typeface="Calibri" panose="020F0502020204030204" pitchFamily="34" charset="0"/>
                <a:cs typeface="Calibri" panose="020F0502020204030204" pitchFamily="34" charset="0"/>
              </a:rPr>
              <a:t>Nigeria Security Insurgency Analysis</a:t>
            </a:r>
          </a:p>
          <a:p>
            <a:pPr lvl="0"/>
            <a:r>
              <a:rPr lang="en-US" noProof="0" dirty="0">
                <a:latin typeface="Calibri" panose="020F0502020204030204" pitchFamily="34" charset="0"/>
                <a:cs typeface="Calibri" panose="020F0502020204030204" pitchFamily="34" charset="0"/>
              </a:rPr>
              <a:t>March, 2026</a:t>
            </a:r>
          </a:p>
        </p:txBody>
      </p:sp>
    </p:spTree>
    <p:extLst>
      <p:ext uri="{BB962C8B-B14F-4D97-AF65-F5344CB8AC3E}">
        <p14:creationId xmlns:p14="http://schemas.microsoft.com/office/powerpoint/2010/main" val="36636579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TM11381587_Win32_SL_v6" id="{5005B820-A0B7-49EA-8569-DCF0CD2DBB9D}" vid="{2E48C80D-E25D-44C4-BCFD-F1465E9B61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18.png"/></Relationships>
</file>

<file path=ppt/webextensions/_rels/webextension2.xml.rels><?xml version="1.0" encoding="UTF-8" standalone="yes"?>
<Relationships xmlns="http://schemas.openxmlformats.org/package/2006/relationships"><Relationship Id="rId1" Type="http://schemas.openxmlformats.org/officeDocument/2006/relationships/image" Target="../media/image19.png"/></Relationships>
</file>

<file path=ppt/webextensions/_rels/webextension3.xml.rels><?xml version="1.0" encoding="UTF-8" standalone="yes"?>
<Relationships xmlns="http://schemas.openxmlformats.org/package/2006/relationships"><Relationship Id="rId1" Type="http://schemas.openxmlformats.org/officeDocument/2006/relationships/image" Target="../media/image20.png"/></Relationships>
</file>

<file path=ppt/webextensions/webextension1.xml><?xml version="1.0" encoding="utf-8"?>
<we:webextension xmlns:we="http://schemas.microsoft.com/office/webextensions/webextension/2010/11" id="{BC9CD89C-A46C-426D-B34B-E5BE7AC443A1}">
  <we:reference id="wa200003233" version="2.0.0.3" store="en-US" storeType="OMEX"/>
  <we:alternateReferences>
    <we:reference id="wa200003233" version="2.0.0.3" store="wa200003233" storeType="OMEX"/>
  </we:alternateReferences>
  <we:properties>
    <we:property name="backgroundColor" value="&quot;#E6E6E6&quot;"/>
    <we:property name="bookmark" value="&quot;H4sIAAAAAAAAA+1abW/bNhD+K4aAoV+CgaJIkeq31Gm3Ae0QNEWAYAiCI3ly1MiSQMlpvMD/vaSkvDV2bHh5cRZ/sn1HHe9d9xx8GZisrnKY/g1jDN4HH8rybAz2bBAGO0HR0UKTcpAQsjACLSMthJCOW1ZNVhZ18P4yaMCOsDnM6gnkXpAj/nO8E0Ce78PI/0ohr3EnqNDWZQF59i92hx2rsROc7QR4UeWlBS/yoIEGvdhzd9z99ir8HrkbQTfZOR6gbnqqJjTmWkWRporLGFmUuGN1d6DVbO4RL7q9flgWDWSFu8bTkAhGpQx1SFRIFWUqNp6eZnnTH1HTjxeVddY5m6eVd86uOYdCowlaEyzWncaXwZ8ZWrD6dPoZzzH3lI/z+fdZ+7Z0nmqmh2CzziPlxGq8f7Cjf8W0ZRVN1jhpQZGN0D144vwwsY50khU6M1g0dTBznu4jfS3caX51oSMb73t/7JZ+wZ4jDm4Int1bFRwh2JZwWv4YWnQHnc/IbOfaQUNHGpU205C/VR99cWl2+qCTFmbRF4R6Yh/LrFs2fCsbyAd/3WHf1e7YUeqsGOV9rd6UzbdO6dxVzvAUbOObgfruqs7XyOyqTt1l329VYp8H07Z43kjg++I4nnmiCo1IGKaGGMJDGUFIW60f9HF9Cu7zjn+9LJcqRsRoRCiJ68tJTHi0tFU9VInDMp+Mi8dPs320FTaur5fzusTSFKvzTKO9Y38wRvey8V9cNKC1r+ruy7Djl6ZlY2v+ZfA5cy7pZB9CPvFi3+25J0z5o3jnlJq1AVqQte0TdXvL87ioy5VIcAVGRUBAMMUIEbD8VfQS8bU48pK2oX3YO31UI0ZUjARUJAgKEFESb2RU6+aq0W2DutA5fUxJjDpNCOXAqEkYVYSvPzQ+lc7T+VPaNp43vunCyWlkXImGcUwwRMakoPrVhHOFeXJ3NHJNqRtt7qn1VOqeZaaAqnLqeManSdEDOPKaTMjzVfRfaWh2AFefoel0HZZjVc4do0tr0H7oBua9zF7BXrrzi22bFtPZ8SoQ4FnKmdE4EkIh0wQpFYoQuYX0W0j/opD+9fevLehfGfRrSBLJlKSca5ZQwni8HKi/ztR5yW3Wl7JuBrtp6lIPzeDrIlC6OSoeLEBYL6nhHoLJ3RDfDP6w5aTaMO0eYWGpwZqeteao9YzWdaBIE4ZhGkoikSLjBDRp+8eDdjZ40ajy4v7akCgSgkSMIRFch8YAYetLC+NEkVRACIwhSZQU0fKF5kJpUSJTJVHGnPMoSQBjbdaXxjQKQxXHmEkkJCFEL/dbNobRnGWrSGSYRpKHCg1orhPG5VJZCxa3RKCMJPWvAsIlcIaxXP998GTpuHvu3mwjHHxyED/PPLIf7KMd7DYeuaxbehtXdMus7EowoVxxYQwNjTJCqtBAvG74U6VZnGJsSKypJlppo54t/B4Z5bfccVJPxmOw01/dclQe3XSiwW8bHu71rerCi6nRVLjAAEJsKMUI9LqdItGKhiKKBCWJYRjpJP4P26O3NS9v4eb/Cm6uvPHbIs7HRJxtG5q3rC8nTV2Bxn0ocM7S3uUMFAZN/33R4r79H8/1zn42+wkYxq0kPyQAAA==&quot;"/>
    <we:property name="creatorSessionId" value="&quot;92b1410e-d7ab-4e4a-b66e-8c8d269e74c8&quot;"/>
    <we:property name="creatorTenantId" value="&quot;d6d41a65-56c4-4df9-8eb4-8837504d31c9&quot;"/>
    <we:property name="creatorUserId" value="&quot;10032004B5BD4491&quot;"/>
    <we:property name="datasetId" value="&quot;ead3f065-7a1f-4de8-a331-14dc126ef445&quot;"/>
    <we:property name="embedUrl" value="&quot;/reportEmbed?reportId=fc82f8a6-3171-4ad7-93fa-578391494d27&amp;config=eyJjbHVzdGVyVXJsIjoiaHR0cHM6Ly9XQUJJLVNPVVRILUFGUklDQS1OT1JUSC1BLVBSSU1BUlktcmVkaXJlY3QuYW5hbHlzaXMud2luZG93cy5uZXQiLCJlbWJlZEZlYXR1cmVzIjp7InVzYWdlTWV0cmljc1ZOZXh0Ijp0cnVlfX0%3D&amp;disableSensitivityBanner=true&amp;storytellingChangeViewModeShortcutKeys=true&quot;"/>
    <we:property name="initialStateBookmark" value="&quot;H4sIAAAAAAAAA+1abW/bNhD+K4aAoV+MgaIokeo310m3oU0bJEWAYAiCI3ly1MiSQMlpvMD/faSkvDV2bHh5cVZ/sn1HHe9d9xx85em0KjOYfoExeu+9D0VxPgZz3vO9vpd3tK9fP+0NDj6dfhns7VpyUdZpkVfe+yuvBjPC+iitJpA5CZb490nfgyzbh5H7lUBWYd8r0VRFDln6D7aHLas2E5z1Pbwss8KAE3lYQ41O7IU9bn/bu/3fA3sjqDq9wENUdUdVhEahkkGgqAxFhCyI7bGqPdBoNveIE91cPyzyGtLcXuNoSDijQvjKJ9KnkjIZaUdP0qzujsjp7mVprHXW5mnpvDLQF5Ar1F5jgsGq1fjK+zNFA0adTT/jBWaOsjuf/5C1bwrrqXp6BCZtPVJMjMKHB1v6ASYNK6/T2krz8nSE9sFT64eJsaTTNFepxryuvJn1dBfiG+FW8+sLLVk737tjd/Tzdiyxd0tw7M4q7xjBNISz4sfQoD1ofUZm/RsHDS1pVJhUQfar+mjPptnZo05amEV7CNXEPJVZd2z4VtSQ9f66x76v3YmlVGk+yrpavS2bb63Sma2c4RmY2jUD+d1WnauR2XWd2su+36nELg+mTfH8IoHviuNk5ojS1zxmmGiiSeiLAHzaaP2oj6szsJ/3/Otk2VTRPELNfUF85scRCYOlreqxShwW2WScP32a7aMpsbZ9vZjXJZamWJWlCs09+70x2peN+2KjAY19ZXtfii2/0A0bG/OvvM+pdUkr+wiyiRP7bsc+oYsf+Tur1KwJ0IKsbZ6omltexkVtrgQ8lKBlAAQ4k4wQDstfRa8RX4MjJ2kb2se900U1YERGSEAGnCAHHsTRRka1qq8b3TaoC53TxZREqJKY0BAY1TGjkoTrD43PpfN0/pS2jeetb9pwhjTQtkT9KCLoI2OCU/VmwrnCPDkYjWxTakebB2o9l7rnqc6hLK06jvFxkncAjrwlE7JsFf1XGpotwFXnqFtdh8VYFnPH6MJoNB/agXknNdewl/Z/sm3TYjo7WQUCvEg5MxoFnEtkiiClXBIitpB+C+lfFdK//f61Bf0rg34FcSyYFDQMFYspYWG0HKi/zdR5zW3WXlHVvUGS2NRD3TtYBEo3R8XDBQjrNTXcQdCZHeLr3h+mmJQbpt0TLCwVGN2x1hy1XtC6FhQpwtBPfEEEUmQhAUWa/vGonTVe1rK4fLg2JJL4IBAjiHmofK2BsPWl+VEsScLBB8aQxFLwYPlCc6G0IBaJFCiiMAyDOAaMlF5fGlPINZUhRkwgITEharnf0jGM5ixbeSz8JBChL1GDClXMQrFU1oLFLeEoAkHdq4CEAkKGkVj/ffBs6Ti4sG+2EfY+WoifpQ7Z9/bR9Aa1Qy7rlt7GFd0yK9sSjGkoQ6419bXUXEhfQ7Ru+BOpWJRgpEmkqCJKKi1fLPwOGWV33HFaTcZjMNOf3XJcHN92ot5vGx7u9a1qw4uJVpTbwABCpCnFANS6nSJWkvo8CDglsWYYqDj6D9ujX2te3sLN/xXcXHnjt0WcT4k4mzY0b1lfTOqqBIX7kOOcpb3NGcg16u77osV98z8er7nExiiV2bJNv/t3z82Ofzb7F79hbCloJAAA&quot;"/>
    <we:property name="isFiltersActionButtonVisible" value="true"/>
    <we:property name="isVisualContainerHeaderHidden" value="false"/>
    <we:property name="pageDisplayName" value="&quot;Yearly Trends&quot;"/>
    <we:property name="reportEmbeddedTime" value="&quot;2026-03-11T11:39:52.321Z&quot;"/>
    <we:property name="reportName" value="&quot;Nigeria Security Report Visuals (2025)&quot;"/>
    <we:property name="reportState" value="&quot;CONNECTED&quot;"/>
    <we:property name="reportUrl" value="&quot;/links/9iBEB6N633?ctid=d6d41a65-56c4-4df9-8eb4-8837504d31c9&amp;pbi_source=linkShare&amp;bookmarkGuid=10064580-688b-47f7-b92b-ee8311e3d9e4&quot;"/>
  </we:properties>
  <we:bindings/>
  <we:snapshot xmlns:r="http://schemas.openxmlformats.org/officeDocument/2006/relationships" r:embed="rId1"/>
</we:webextension>
</file>

<file path=ppt/webextensions/webextension2.xml><?xml version="1.0" encoding="utf-8"?>
<we:webextension xmlns:we="http://schemas.microsoft.com/office/webextensions/webextension/2010/11" id="{E7650576-D527-485A-A804-073E9B82B377}">
  <we:reference id="wa200003233" version="2.0.0.3" store="en-US" storeType="OMEX"/>
  <we:alternateReferences>
    <we:reference id="wa200003233" version="2.0.0.3" store="wa200003233" storeType="OMEX"/>
  </we:alternateReferences>
  <we:properties>
    <we:property name="backgroundColor" value="&quot;#E6E6E6&quot;"/>
    <we:property name="bookmark" value="&quot;H4sIAAAAAAAAA+1abW/bNhD+K4aAoV+MgS+SSPZbmrZDgXXLmqJbMQTFiTw5amRJk+Q0XpD/vqPktE1qR2nSugrmIAgkknp4rw+PZM4DlzVVDsvfYI7B4+BJWZ7MoT6Z8GAaFH2b0cyBUKHiCkMhtXRMUm9ZtVlZNMHj86CFeobtm6xZQO6BqPHvo2kAeX4AM/+WQt7gNKiwbsoC8uxf7AdTV1sv8GIa4FmVlzV4yMMWWvSwpzSc3kkE/rOfEWybneIh2rZvBR45g8CU1IqZGAQaRcOafkAn2dohHrqbfr8sWsgKmsa3cSVFzJVAx6ywmGijnW9Ps7xdDUmWz86qmrQjnZeVN84+yTor68xCHnRa1Nj0Qp8H+2W+mHdPz660H5aL2uIrTLuuos3aJSEV2QzrDN6R+Iuamt5lhc0cFm0TXJCBDuqSzNeNbDoD+cbj8sN+jfRGgrKL6Uep9twpFJZar4v0EqFZ1PjtZXpdtpBPXlzp/mrp9mazGmfQrl6fbcWaJ5kroKpIHN/xfFGswos9JBXy/DbyH1FLkxWzfJV+nzLhda9WcwwVvoTKp3fynvLIR/2FB0qlsBKRcc5CqTRxgYv95zfCtXjWJuXZl2giDrUwjjulktgxhibhd0fjinNQRnFmnVDCiiS6B1oKmKYmVonQNibis9qqQbTOcF9ihUkorJM6FFyj5pIZFo+SUg6wrrAl/i3rNak7HDd5ZrG+on8wR1oU/IODFjr9qn6+DPv+0nXd2Kl/HvyakUl67DeQLzzso6f0hSs/FI9IKPo58qL1qwDJ/v4znu++aLpZtmOio86/NqVQ42kcSxWBhdBYbUbpX+Ikj7Rz7c3W6b3KtcHIqBCoZohNrLmWbJRe3VQI7Jz6mXF6n8ZaRUkiaaVAqu94AoyJQZ9uXOW/l8xLhB3/3myb3p2hDhVG5MhYMxliHIb8Hu4cddH2I6v6l2XTTvbSlDyNbvJq0yIyHhEPR7g1eorgckq6dvJLXS6qkUk3vHEbZB8LtVt1XamA6aV2WD9Zdkn4NKsvd+5iek2JLWrXk5iJdMiYkYJzZRyLAMzwlmFDke8EbT5syEGGVN8r5JoPb402YHEFMUpgCYslZxocj9Xdee27mXXvlJaKGU6e09KSZ35FmVB5PNlrW7Andw2h0QXPkJZ9KKGNZBqGDqWxwvDYaKG35jK/KOafqfCuWcznUC+vq/K2fPspCyY/jdxFd9dqVaI4bVmkJP1xqGUcW4DBjNx4IBBCFGGKSkkTxy6RmHA7iJbNKXK+xILEJUQ5KbAQFCBLjHB3xdKRi0CnISlojaOKVofJ5sBbHeYqTcSCRHiJlKHgxkWRIehVWL4uq9/orUfo6rrLI1hy6fO6nHdQq7PiZpH8s0DyynVvH1520PMflw83IRUe4hb5OQ16i1C0ToNDzMkaty85+5dutvU7hemlOGmGORVmNMfvt4zv+xeQg9JdKROlj/Spd1fwmLMuGnrLCF9L3Meqfx6jz9POqIXLLjV6cU3+ryj1hzXzmkCS4+ZPP4baahvyozfYD71gyxcNJTi6J1DvH0Pdjm7pXVe3bdh6rg5ells8TFBaGkykTYSUTDtjIZaDS/6OW3fcuuPWb8Ktoz6v2R77jsoMY+JnB4J+E6aFUMLEiQU9vCUb1bXMuAuM/0+K9pLuaqQ73KKlaegihoY5wZjjTMR4jyP6XbR/gwuEh0ZxD+f/gR7W7a+FllJwLautpY+/uhTdYgoSj229bOhIa939ablomwosHkCBa+5RydlQOHSr5013qd2/QH68Rr24+A9GJS40eikAAA==&quot;"/>
    <we:property name="creatorSessionId" value="&quot;6bde2fd8-a482-4f84-a857-3914be8e0f1a&quot;"/>
    <we:property name="creatorTenantId" value="&quot;d6d41a65-56c4-4df9-8eb4-8837504d31c9&quot;"/>
    <we:property name="creatorUserId" value="&quot;10032004B5BD4491&quot;"/>
    <we:property name="datasetId" value="&quot;ead3f065-7a1f-4de8-a331-14dc126ef445&quot;"/>
    <we:property name="embedUrl" value="&quot;/reportEmbed?reportId=fc82f8a6-3171-4ad7-93fa-578391494d27&amp;config=eyJjbHVzdGVyVXJsIjoiaHR0cHM6Ly9XQUJJLVNPVVRILUFGUklDQS1OT1JUSC1BLVBSSU1BUlktcmVkaXJlY3QuYW5hbHlzaXMud2luZG93cy5uZXQiLCJlbWJlZEZlYXR1cmVzIjp7InVzYWdlTWV0cmljc1ZOZXh0Ijp0cnVlfX0%3D&amp;disableSensitivityBanner=true&amp;storytellingChangeViewModeShortcutKeys=true&quot;"/>
    <we:property name="initialStateBookmark" value="&quot;H4sIAAAAAAAAA+1a60/bSBD/VyJLp36JTvuwvbv9llJ6qnq0HFS9q04IjXfHwcWxfX5Qcoj//cZ2aAtNCIU2NbqgCHkf/u28Z3bXF55LqiKF+WuYoffUe5bnpzMoT0fcG3vZou/Nm1d7k4NXx68ne7vUnRd1kmeV9/TCq6GcYv0uqRpIWwTq/Pto7EGa7sO0bcWQVjj2CiyrPIM0+Rf7yTRUlw1ejj08L9K8hBbysIYaW9gzmk5tWpv/KmlFsHVyhodo674XeOAMAlNSK2ZCEGgUTav6CR1lS6e00N3yO3lWQ5LRMm0fV1KEXAl0zAqLkTbatf1xktaLKdF897woiTvieV60UtkhWqd5mVhIvY6LEque6AtvJ0+bWfe0e63/MG9KiwcYd0NZndRzQsqSKZYJHBP5TUldx0lmE4dZXXmXJKD9MifxdTOrTkBt50n+cadEahGh7HL8iaqJO4PMUu9NkvYQqqbE70/T27yGdPTy2vA3UzeZTkucQr1o7m5EmqeJy6AoiJx24EWTLcyLPSYW0vQu9B9RT5Vk03Thfp894W3PVnUCBe5B0bp39IH8qLX6yxYolsJKRMY586XSiisXtq/fClfjeR3l51+jidDXwjjulIpCxxiaiN8fjSvOQRnFmXVCCSui4AFoMWAcm1BFQtvQgbDaqrVoneC+xvIjX1gntS+4Rs0lMywcZEjZx7LAmuJvXi5x3fV2kyYWy2v8ezOkpNA+OKih46/o10uwH89dN4wd+xfe7wmJpMd+B2nTwj55Tm+4/GP2hIiiv6OWtD4LEO0fvojz3RtVt8pmRHTU6dfGZGo8DkOpArDgG6vNIPVLMalF2qr2dun0WuXaYGCUD1QzhCbUXEs2SK2uKgS2Sv1COL1OQ62CKJKUKZDqOx4BY2KtTldm+R9F8xxhG39vl02vTl/7CgNSZKiZ9DH0ff4AdQ66aPuZVf1eXtWjSRyTptGNDlYlkeGQeDjArdFzBJeS09Wj38q8KQZG3fqN29roY6F0i6FrFTA1Sofls3nnhM+T8mrnLsY3mNggd30QM4H2GTNScK6MYwGAWb9lWFHkO0GbD+tzkD7V9wq55uu3RiuwuIIQJbCIhZIzDY6H6v5x7YeJdXJGqWKKoxeUWtKkzSgjKo9Hk7oGe3pfExqc8azjsjcltIGMfd+hNFYYHhot9MZU1ibF9AsWjqtmNoNyfpOV9/n7z14w+mXgKro/V4sSxWnLAiXpn0Mtw9ACrPXIlQcCPgQBxqiUNGHoIokRt2vRkhlZztdYELmIQk4MzAcFyCIj3H2xdOAC0LFPDFrjqKLVfrTa8BanuEpTYEEKeJGUvuDGBYEh6IVZvs2L19TqEbq67uoIllT6osxnHdTikLhqon8aJK3c1Pbh1QA9/3H1cBtS1kLcwT/HXi8Rstaxd4gpSePuJWff6FZbvlMYX5ETJ5hSYUZrvLmjfT+8gFxL3bUyUbaWPm7V5T3lrLOGXjKirSUeItU/T7D1006omUuuOHp5g/5vKPXXc9ZyAlGKq1/9ZGqLbcjP3mA/9oItbSpycHTPoNw5gbIeXOpdVret2HouDl7mGzxMUFoajKSNhJRMO2MhlGtT/ja2bmPrNrZ+l9g66POazUXfQYlhSPHZgaBfxLQQSpgwsqDXb8kGdS0z7ALj/+OiPaXbGuket2hx7LuAoWFOMOY4EyE+4Ih+a+3f4QLhsYW4x/M90OO6/bVQkwsujWpLw8dfnYtu0AUpjm28bOiC1rL707ypqwIs7kOGS+5RSdmQOXSL51V3qd0nkF63CCkjWZTkt7zQfhj56dr18vI/YAvXXqMpAAA=&quot;"/>
    <we:property name="isFiltersActionButtonVisible" value="true"/>
    <we:property name="isVisualContainerHeaderHidden" value="false"/>
    <we:property name="pageDisplayName" value="&quot;Region and state insights&quot;"/>
    <we:property name="reportEmbeddedTime" value="&quot;2026-03-11T11:57:23.145Z&quot;"/>
    <we:property name="reportName" value="&quot;Nigeria Security Report Visuals (2025)&quot;"/>
    <we:property name="reportState" value="&quot;CONNECTED&quot;"/>
    <we:property name="reportUrl" value="&quot;/links/9iBEB6N633?ctid=d6d41a65-56c4-4df9-8eb4-8837504d31c9&amp;pbi_source=linkShare&amp;bookmarkGuid=27e1eeca-66b8-478e-9a87-5266ee5a3e47&quot;"/>
  </we:properties>
  <we:bindings/>
  <we:snapshot xmlns:r="http://schemas.openxmlformats.org/officeDocument/2006/relationships" r:embed="rId1"/>
</we:webextension>
</file>

<file path=ppt/webextensions/webextension3.xml><?xml version="1.0" encoding="utf-8"?>
<we:webextension xmlns:we="http://schemas.microsoft.com/office/webextensions/webextension/2010/11" id="{E75BB6A4-A43A-4416-A553-B4EDA3626ED2}">
  <we:reference id="wa200003233" version="2.0.0.3" store="en-US" storeType="OMEX"/>
  <we:alternateReferences>
    <we:reference id="wa200003233" version="2.0.0.3" store="wa200003233" storeType="OMEX"/>
  </we:alternateReferences>
  <we:properties>
    <we:property name="backgroundColor" value="&quot;#E6E6E6&quot;"/>
    <we:property name="bookmark" value="&quot;H4sIAAAAAAAAA+1ZbW/bNhD+K4aAoV+MgaRIUcy3NE2HAesQNEWxYgiKI3l21MiSQVFpvMD/fSfJfUlmx1vSZioQIB+kI3167u453h1znfiiWZaw+h0WmBwkz+v6YgHhYsKTaVINMp3pzOWG5Za71OSS3rrVehmLumqSg+skQphjfFs0LZSdIhL+eTZNoCxPYN69zaBscJosMTR1BWXxFw6baSmGFtfTBK+WZR2gU3kaIWKn9pK20ztB4D+n9EVwsbjEU3RxkEohDfco85RhCoKrTOW0rRk29Mi2bulU958/qqsIRUWf6WSQAneYKYWKaZZpo5Xu5LOijJstdnV8tQxkHdm8WnbOOSKs8zoUDsqktyJgM4C+To7qsl30T8c35Kd1Gxy+xlm/VMUirkhTVcwxFPCe4LeBRO+LyhUeq9gka3LQSajJff3OEwxLjOSsOvRL5/XHo4AExCcHbD39jO3QX0LlSHob2CuEpg347ZG9qSOUk19vLN9Ed0aSpqjm5YYBX4LxZgDtyrYhd6N/DuHoHELsqGY/UEy7CNCv6+AxPF/1QXhRhE9sENNbtjyikeuzT+SkbR++ot+GHQPYx6HD2bpbllbbzGinPFNaGK6E6D1xp+sjXkVbX910eKfNKmtUNrNaMsVydMJ7v1dbsaDc/6cunnIFxliJghmRZ4JOlvvqckYYq7hiKDUYCYzx/biac1hu0TXD3GTSpkJY79KcCWbzvdm/M8O+V6xXCNtyfm9WNWXhMNywOlkgndrdg4cIvVXL4UMFDuu175exN/o6+a0gRwy630LZdmqfvaBf+Ppj9azLgp58OzKh/0XzXfNg45shAczMzJQH4a3DlGcZSs9GeZg3fbV7Cumdzhliqn3Ocw3WyFwzlylmeTrKmAacd5qegnq3d4aogqGey2stjTdAxYCrNBtlVO9uu55Cu6MVMWiE18Z4qYxGboXw+wv+zlYEUy1zcIzamlw6w5TT2f21CWdzLjLmciGUUjTZPARbZm1XaAxjqcq8UBoN3r+FOJzPKVMgbl6PH4XjF0VZEpZO+rKtNq01G9eQ8apu4uRwNiPXo5+83nXWjgfi6Y4S/38ifIHgSzpl4uSXULfLkaH7FnMkBL9Z+hEGyH5o84pJTWcRy52niSsXLr3vOJPrPLdSSp1RVQXFvMv3D4A7dJkMuOBMGi4zz5DxVO3vpR+fNIeXVBvnOHlJtbQsuhI6oXo0OYwR3MV9KTQ68uyzcqBSBooz+vNKOK+sdhwfUIr+ozHdIFZ+ZcL7pl0sIKxum/KufvclCyY/jTxE97dqCAmn8cV2dxTeZJmFNM2zcU6kD75eHHXn8u8vIAekD7qDHJUnxndLiamUiisaCrhJJUhwZoyFZX838qMnxXTEB87+wdpBJLpsTdStfP+jp9Mj0mXD9pnhPs8cs4Y6PSupRj8VgBEWAF9XbXw69r/Xsd/nwrY7sLqNzRIcnkCFW+7CiGJQefSb5133Yf2/mj9fha3XfwPmcyKp4h4AAA==&quot;"/>
    <we:property name="creatorSessionId" value="&quot;ad0ea21c-0c8b-4774-b072-ea98a61c8eab&quot;"/>
    <we:property name="creatorTenantId" value="&quot;d6d41a65-56c4-4df9-8eb4-8837504d31c9&quot;"/>
    <we:property name="creatorUserId" value="&quot;10032004B5BD4491&quot;"/>
    <we:property name="datasetId" value="&quot;ead3f065-7a1f-4de8-a331-14dc126ef445&quot;"/>
    <we:property name="embedUrl" value="&quot;/reportEmbed?reportId=fc82f8a6-3171-4ad7-93fa-578391494d27&amp;config=eyJjbHVzdGVyVXJsIjoiaHR0cHM6Ly9XQUJJLVNPVVRILUFGUklDQS1OT1JUSC1BLVBSSU1BUlktcmVkaXJlY3QuYW5hbHlzaXMud2luZG93cy5uZXQiLCJlbWJlZEZlYXR1cmVzIjp7InVzYWdlTWV0cmljc1ZOZXh0Ijp0cnVlfX0%3D&amp;disableSensitivityBanner=true&amp;storytellingChangeViewModeShortcutKeys=true&quot;"/>
    <we:property name="initialStateBookmark" value="&quot;H4sIAAAAAAAAA+1ZbW/bNhD+K4aAoV+MgaRIScw3N02HoUsbJEWxYgiCI3l21ciSQVFp3MD/fSfJfUlnx5vTZioQwB+kI3W8l+d4L76JXF4vCli+hDlGB9HTqrqcg78c8WgclWvaq1cvjienLy5eTo6PiFwtQl6VdXRwEwXwMwxv8rqBouVAxL/OxxEUxQnM2rcpFDWOowX6uiqhyD9iv5mWgm9wNY7welFUHlqWZwECtmyvaDu909n815hOBBvyKzxDG3qqFFJzhzKLGcYguEpURtvqfkMn2cYtLevu+MOqDJCXdExLgxi4xUQpVCxlSapTlbb0aV6E9RazPLpeeNKOdF4uWqsckqyzyucWiqjTwmPdC30THVZFM++ejm7Rz6rGWzzFabdUhjwsiVOZz9DncEHiN55IF3lpc4dlqKMVGejEV2S+bucJ+gUGMlblu6V31YdDjySIiw7YavxZtom7gtIS9VvBjhHqxuP3l+x1FaAY/X5r+bZ050Sp83JWrBHwxRmve6Ft0dRkbnRPwR++Ax9aqJn35NPWA/R15R36p8vOCc9y/wkNYvyNLg+o5Or8Ezhp2/uv4LdGRy/sw8DhfNUuS5OaRKdWOaZSobkSorPEnaYPeB1MdX3b4C03o4xWydSkkimWoRXOuZ3c8jnF/j958Zgr0NpIFEyLLBGZZvvyslpoo7hiKFPQEhjju+Wq38FiA68pZjqRJhbCOBtnTDCT7Yz+rRH2o3y9RNgU8zujqi5yi/6W1tEc6dZuHxwE6LRa9Afl2K9XrlvGTumb6I+cDNHzfgNF07J98oy+cNWH8kkbBR34tkRC90X9Q+NgbZs+APRUT5UD4YzFmCcJSscGeZnXXbZ7dOmdxul9mrqMZykYLbOU2UQxw+NB+tTjrOX06NS7rdN7FTTVXC5NpXYaKBlwFSeD9OrdZdeja7eUIhq1cKnWTiqdIjdCuN0Jf2spgnEqM7CMyppMWs2UTZP9uQlrMi4SZjMhlFJpYu8jW2JMm2g0Y7FKnFApaty/hJjMZhQpENavRw+C8cu8KEiWlvq8KdelNRtWk3Fc1WE0mU7J9OhGp9vu2uGIeLYlxf+fEj5DcAXdMmH0m6+axcCk+x59JHi3XvoZGsiuaXOKyZTuIpZZRx1XJmy8bzuTpVlmpJRpQlkVFHM2290AbuGlE+CCM6m5TBxDxmO1u5Z+eNBMrig3znD0nHJpkbcpdET5aDQJAezlvhAaHHh2adlDKQHFGf2cEtYpk1qO90hF/1GZthErvlLhom7mc/DLb1V5W739EgWjXwbuov216l3CqX0x7YzC6SQxEMdZMsyO9N7jxUFXLv9+ANlLeq8Z5KAsMbwpJcZSKq6oKeA6liDB6iEmlt3VyM8eFOMBXzi7G2sLgeCyMVA34v3PDk4PCJc12qeauyyxzGiq9IykHP2YAAaYAFxVNuHx2v9R134XC5tmYFUT6gVYPIESN8zCCGJQOnTr523zsO6v5qg7hLyam2LXAK39A/rz6Gy1+hv/i7KDCx8AAA==&quot;"/>
    <we:property name="isFiltersActionButtonVisible" value="true"/>
    <we:property name="isVisualContainerHeaderHidden" value="false"/>
    <we:property name="pageDisplayName" value="&quot;Perpetrator Analysis&quot;"/>
    <we:property name="reportEmbeddedTime" value="&quot;2026-03-11T14:02:21.476Z&quot;"/>
    <we:property name="reportName" value="&quot;Nigeria Security Report Visuals (2025)&quot;"/>
    <we:property name="reportState" value="&quot;CONNECTED&quot;"/>
    <we:property name="reportUrl" value="&quot;/links/9iBEB6N633?ctid=d6d41a65-56c4-4df9-8eb4-8837504d31c9&amp;pbi_source=linkShare&amp;bookmarkGuid=79a81cad-4796-4475-a45e-c320e0218403&quot;"/>
  </we:properties>
  <we:bindings/>
  <we:snapshot xmlns:r="http://schemas.openxmlformats.org/officeDocument/2006/relationships" r:embed="rId1"/>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F29F0C84-2C14-4FB8-88C2-9577181F2CC2}">
  <ds:schemaRefs>
    <ds:schemaRef ds:uri="http://schemas.microsoft.com/sharepoint/v3/contenttype/forms"/>
  </ds:schemaRefs>
</ds:datastoreItem>
</file>

<file path=customXml/itemProps2.xml><?xml version="1.0" encoding="utf-8"?>
<ds:datastoreItem xmlns:ds="http://schemas.openxmlformats.org/officeDocument/2006/customXml" ds:itemID="{272B3831-C4F2-498C-8E5F-F8D6F90548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4ACCF44-01D5-4C40-9EAC-D3C3683409F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Liquid void presentation</Template>
  <TotalTime>339</TotalTime>
  <Words>739</Words>
  <Application>Microsoft Office PowerPoint</Application>
  <PresentationFormat>Widescreen</PresentationFormat>
  <Paragraphs>76</Paragraphs>
  <Slides>10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Aptos</vt:lpstr>
      <vt:lpstr>Arial</vt:lpstr>
      <vt:lpstr>Calibri</vt:lpstr>
      <vt:lpstr>Century Gothic</vt:lpstr>
      <vt:lpstr>Times New Roman</vt:lpstr>
      <vt:lpstr>Wingdings</vt:lpstr>
      <vt:lpstr>Wingdings 2</vt:lpstr>
      <vt:lpstr>Quotable</vt:lpstr>
      <vt:lpstr>NIGERIA TERRORISM AND SECURITY INCIDENTS REPORT  Data-Driven Insights into Terrorism Incidents, Fatalities, and Regional Patterns    Emmanuel Chinonso Nwala Data Analyst Portfolio Project | Year of Analysis (2020–2025)</vt:lpstr>
      <vt:lpstr>Project Overview</vt:lpstr>
      <vt:lpstr>DATASET OVERVIEW</vt:lpstr>
      <vt:lpstr>KEY METRICS OVERVIEW </vt:lpstr>
      <vt:lpstr>YEARLY TRENDS</vt:lpstr>
      <vt:lpstr>REGIONAL &amp; STATE INSIGHTS</vt:lpstr>
      <vt:lpstr>PERPETRATOR ANALYSIS</vt:lpstr>
      <vt:lpstr>RECOMMENDATIONS FOR DECISION-MAKERS</vt:lpstr>
      <vt:lpstr>Final Executive Insight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emmanuel chinonso</dc:creator>
  <cp:lastModifiedBy>emmanuel chinonso</cp:lastModifiedBy>
  <cp:revision>46</cp:revision>
  <dcterms:created xsi:type="dcterms:W3CDTF">2026-03-11T09:37:21Z</dcterms:created>
  <dcterms:modified xsi:type="dcterms:W3CDTF">2026-03-19T18:20:38Z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